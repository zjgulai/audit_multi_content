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75" r:id="rId7"/>
    <p:sldId id="276" r:id="rId8"/>
    <p:sldId id="261" r:id="rId9"/>
    <p:sldId id="26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7" r:id="rId18"/>
    <p:sldId id="272" r:id="rId19"/>
    <p:sldId id="273" r:id="rId20"/>
    <p:sldId id="274" r:id="rId2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hyperlink" Target="https://momcozy.com/products/momcozy-wellness-1-warm-massage-wearable-breast-pump-w1?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hyperlink" Target="https://www.youtube.com/watch?v=YLZGj2YY2e4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Shape 1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8A3A4C"/>
          </a:solidFill>
        </p:spPr>
      </p:sp>
      <p:sp>
        <p:nvSpPr>
          <p:cNvPr id="4" name="Shape 2"/>
          <p:cNvSpPr/>
          <p:nvPr/>
        </p:nvSpPr>
        <p:spPr>
          <a:xfrm>
            <a:off x="6766560" y="-1371600"/>
            <a:ext cx="3840480" cy="3840480"/>
          </a:xfrm>
          <a:prstGeom prst="ellipse">
            <a:avLst/>
          </a:prstGeom>
          <a:solidFill>
            <a:srgbClr val="B27A7E"/>
          </a:solidFill>
        </p:spPr>
      </p:sp>
      <p:sp>
        <p:nvSpPr>
          <p:cNvPr id="5" name="Shape 3"/>
          <p:cNvSpPr/>
          <p:nvPr/>
        </p:nvSpPr>
        <p:spPr>
          <a:xfrm>
            <a:off x="7772400" y="3406140"/>
            <a:ext cx="2560320" cy="2560320"/>
          </a:xfrm>
          <a:prstGeom prst="ellipse">
            <a:avLst/>
          </a:prstGeom>
          <a:solidFill>
            <a:srgbClr val="D9A8A3"/>
          </a:solidFill>
        </p:spPr>
      </p:sp>
      <p:sp>
        <p:nvSpPr>
          <p:cNvPr id="6" name="Text 4"/>
          <p:cNvSpPr/>
          <p:nvPr/>
        </p:nvSpPr>
        <p:spPr>
          <a:xfrm>
            <a:off x="502920" y="1097280"/>
            <a:ext cx="6400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F1DAC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MOMCOZY  ·  CREATOR CONTENT BRIEF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408176"/>
            <a:ext cx="65836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Momcozy Wellness 1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6583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DAC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Industry First* Warm-Massage Breast Pump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523744"/>
            <a:ext cx="3291840" cy="365760"/>
          </a:xfrm>
          <a:prstGeom prst="roundRect">
            <a:avLst>
              <a:gd name="adj" fmla="val 12500"/>
            </a:avLst>
          </a:prstGeom>
          <a:solidFill>
            <a:srgbClr val="8A3A4C"/>
          </a:solidFill>
          <a:ln w="9525">
            <a:solidFill>
              <a:srgbClr val="B27A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87752"/>
            <a:ext cx="32918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 MOMS OF MULTIPLE KIDS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3054096"/>
            <a:ext cx="1005840" cy="32004"/>
          </a:xfrm>
          <a:prstGeom prst="rect">
            <a:avLst/>
          </a:prstGeom>
          <a:solidFill>
            <a:srgbClr val="F1DACE"/>
          </a:solidFill>
        </p:spPr>
      </p:sp>
      <p:sp>
        <p:nvSpPr>
          <p:cNvPr id="12" name="Text 10"/>
          <p:cNvSpPr/>
          <p:nvPr/>
        </p:nvSpPr>
        <p:spPr>
          <a:xfrm>
            <a:off x="502920" y="3236976"/>
            <a:ext cx="5852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Elevated Comfort. High Performance, Naturally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Updated Aug, 2026  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4357116"/>
            <a:ext cx="6492240" cy="365760"/>
          </a:xfrm>
          <a:prstGeom prst="roundRect">
            <a:avLst>
              <a:gd name="adj" fmla="val 12500"/>
            </a:avLst>
          </a:prstGeom>
          <a:solidFill>
            <a:srgbClr val="8A3A4C"/>
          </a:solidFill>
          <a:ln w="9525">
            <a:solidFill>
              <a:srgbClr val="B27A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4421124"/>
            <a:ext cx="62179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DAC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Confidential — all information here is under embargo until launch. Do not share externally.</a:t>
            </a:r>
            <a:endParaRPr lang="en-US" sz="900" dirty="0"/>
          </a:p>
        </p:txBody>
      </p:sp>
      <p:sp>
        <p:nvSpPr>
          <p:cNvPr id="15" name="文本框 14"/>
          <p:cNvSpPr txBox="1"/>
          <p:nvPr/>
        </p:nvSpPr>
        <p:spPr>
          <a:xfrm>
            <a:off x="502951" y="4808480"/>
            <a:ext cx="73152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900" i="1">
                <a:solidFill>
                  <a:srgbClr val="FFFFFF"/>
                </a:solidFill>
              </a:rPr>
              <a:t>*Based on available market data as of November 2025.</a:t>
            </a:r>
            <a:endParaRPr lang="zh-CN" altLang="en-US" sz="900" i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Text 1"/>
          <p:cNvSpPr/>
          <p:nvPr/>
        </p:nvSpPr>
        <p:spPr>
          <a:xfrm>
            <a:off x="502920" y="237744"/>
            <a:ext cx="8138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What’s in this brief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850392"/>
            <a:ext cx="8138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Three parts. Part 2 is written for you specifically; Parts 1 and 3 are the same for every creator on this campaign.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813816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44752"/>
            <a:ext cx="45720" cy="822960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8" name="Text 6"/>
          <p:cNvSpPr/>
          <p:nvPr/>
        </p:nvSpPr>
        <p:spPr>
          <a:xfrm>
            <a:off x="704088" y="1673352"/>
            <a:ext cx="749808" cy="384048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27048" y="1627632"/>
            <a:ext cx="3657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Product Information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27048" y="1938528"/>
            <a:ext cx="6400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it is · Selling points by priority · Specs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414016"/>
            <a:ext cx="813816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414016"/>
            <a:ext cx="45720" cy="822960"/>
          </a:xfrm>
          <a:prstGeom prst="rect">
            <a:avLst/>
          </a:prstGeom>
          <a:solidFill>
            <a:srgbClr val="B27A7E"/>
          </a:solidFill>
        </p:spPr>
      </p:sp>
      <p:sp>
        <p:nvSpPr>
          <p:cNvPr id="13" name="Text 11"/>
          <p:cNvSpPr/>
          <p:nvPr/>
        </p:nvSpPr>
        <p:spPr>
          <a:xfrm>
            <a:off x="704088" y="2642616"/>
            <a:ext cx="749808" cy="384048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27048" y="2596896"/>
            <a:ext cx="3657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Content Brief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27048" y="2907792"/>
            <a:ext cx="6400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Your audience · Video topics · Key messages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383280"/>
            <a:ext cx="813816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383280"/>
            <a:ext cx="45720" cy="822960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18" name="Text 16"/>
          <p:cNvSpPr/>
          <p:nvPr/>
        </p:nvSpPr>
        <p:spPr>
          <a:xfrm>
            <a:off x="704088" y="3611880"/>
            <a:ext cx="749808" cy="384048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27048" y="3566160"/>
            <a:ext cx="3657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Guidelines &amp; Delivery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27048" y="3877056"/>
            <a:ext cx="6400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Usage · Compliance · Timeline · Rights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183880" y="4777740"/>
            <a:ext cx="457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B27A7E"/>
          </a:solidFill>
        </p:spPr>
      </p:sp>
      <p:sp>
        <p:nvSpPr>
          <p:cNvPr id="4" name="Shape 2"/>
          <p:cNvSpPr/>
          <p:nvPr/>
        </p:nvSpPr>
        <p:spPr>
          <a:xfrm>
            <a:off x="-1097280" y="2217420"/>
            <a:ext cx="4206240" cy="4206240"/>
          </a:xfrm>
          <a:prstGeom prst="ellipse">
            <a:avLst/>
          </a:prstGeom>
          <a:solidFill>
            <a:srgbClr val="8A3A4C"/>
          </a:solidFill>
        </p:spPr>
      </p:sp>
      <p:sp>
        <p:nvSpPr>
          <p:cNvPr id="5" name="Text 3"/>
          <p:cNvSpPr/>
          <p:nvPr/>
        </p:nvSpPr>
        <p:spPr>
          <a:xfrm>
            <a:off x="502920" y="1691640"/>
            <a:ext cx="18288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502920" y="2724912"/>
            <a:ext cx="6400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Product Information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3255264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DAC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it is, what it does, and what you can say about it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Text 1"/>
          <p:cNvSpPr/>
          <p:nvPr/>
        </p:nvSpPr>
        <p:spPr>
          <a:xfrm>
            <a:off x="502920" y="237744"/>
            <a:ext cx="8138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PRODUCT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Momcozy Wellness 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850392"/>
            <a:ext cx="8138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Industry First* Warm-Massage Breast Pump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3703320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9A8A3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389120" y="1261872"/>
            <a:ext cx="4251960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Momcozy Wellness 1 is a wearable breast pump built to make pumping feel warmer, gentler, and just easier to fit into real life.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2011680"/>
            <a:ext cx="4251960" cy="2651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" name="Text 9"/>
          <p:cNvSpPr/>
          <p:nvPr/>
        </p:nvSpPr>
        <p:spPr>
          <a:xfrm>
            <a:off x="4480560" y="2039112"/>
            <a:ext cx="114300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Slogan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0" y="2039112"/>
            <a:ext cx="288036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Elevated Comfort. High Performance, Naturally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0" y="2322576"/>
            <a:ext cx="4251960" cy="2651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Text 12"/>
          <p:cNvSpPr/>
          <p:nvPr/>
        </p:nvSpPr>
        <p:spPr>
          <a:xfrm>
            <a:off x="4480560" y="2350008"/>
            <a:ext cx="114300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MSRP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69280" y="2350008"/>
            <a:ext cx="288036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$329.99 USD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89120" y="2633472"/>
            <a:ext cx="4251960" cy="2651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" name="Text 15"/>
          <p:cNvSpPr/>
          <p:nvPr/>
        </p:nvSpPr>
        <p:spPr>
          <a:xfrm>
            <a:off x="4480560" y="2660904"/>
            <a:ext cx="114300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Official link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69280" y="2660904"/>
            <a:ext cx="288036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altLang="zh-CN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https://momcozy.com/products/momcozy</a:t>
            </a:r>
            <a:r>
              <a:rPr lang="zh-CN" altLang="en-US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-</a:t>
            </a:r>
            <a:r>
              <a:rPr lang="en-US" altLang="zh-CN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wellness</a:t>
            </a:r>
            <a:r>
              <a:rPr lang="zh-CN" altLang="en-US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-</a:t>
            </a:r>
            <a:r>
              <a:rPr lang="en-US" altLang="zh-CN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1</a:t>
            </a:r>
            <a:r>
              <a:rPr lang="zh-CN" altLang="en-US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-</a:t>
            </a:r>
            <a:r>
              <a:rPr lang="en-US" altLang="zh-CN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warm</a:t>
            </a:r>
            <a:r>
              <a:rPr lang="zh-CN" altLang="en-US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-</a:t>
            </a:r>
            <a:r>
              <a:rPr lang="en-US" altLang="zh-CN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massage</a:t>
            </a:r>
            <a:r>
              <a:rPr lang="zh-CN" altLang="en-US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-</a:t>
            </a:r>
            <a:r>
              <a:rPr lang="en-US" altLang="zh-CN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wearable</a:t>
            </a:r>
            <a:r>
              <a:rPr lang="zh-CN" altLang="en-US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-</a:t>
            </a:r>
            <a:r>
              <a:rPr lang="en-US" altLang="zh-CN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breast</a:t>
            </a:r>
            <a:r>
              <a:rPr lang="zh-CN" altLang="en-US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-</a:t>
            </a:r>
            <a:r>
              <a:rPr lang="en-US" altLang="zh-CN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pump</a:t>
            </a:r>
            <a:r>
              <a:rPr lang="zh-CN" altLang="en-US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-</a:t>
            </a:r>
            <a:r>
              <a:rPr lang="en-US" altLang="zh-CN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w1?</a:t>
            </a:r>
            <a:r>
              <a:rPr lang="en-US" altLang="zh-CN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389120" y="2944368"/>
            <a:ext cx="4251960" cy="2651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" name="Text 18"/>
          <p:cNvSpPr/>
          <p:nvPr/>
        </p:nvSpPr>
        <p:spPr>
          <a:xfrm>
            <a:off x="4480560" y="2971800"/>
            <a:ext cx="114300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Launch / region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69280" y="2971800"/>
            <a:ext cx="288036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95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 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3328416"/>
            <a:ext cx="4572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SUGGESTED USE SCENARIOS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02920" y="3566160"/>
            <a:ext cx="191109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566160"/>
            <a:ext cx="45720" cy="841248"/>
          </a:xfrm>
          <a:prstGeom prst="rect">
            <a:avLst/>
          </a:prstGeom>
          <a:solidFill>
            <a:srgbClr val="6B857B"/>
          </a:solidFill>
        </p:spPr>
      </p:sp>
      <p:sp>
        <p:nvSpPr>
          <p:cNvPr id="25" name="Text 23"/>
          <p:cNvSpPr/>
          <p:nvPr/>
        </p:nvSpPr>
        <p:spPr>
          <a:xfrm>
            <a:off x="649224" y="3639312"/>
            <a:ext cx="16550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At-Home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" y="3877056"/>
            <a:ext cx="1655064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Pump while caring for baby and managing everyday life.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578608" y="3566160"/>
            <a:ext cx="191109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78608" y="3566160"/>
            <a:ext cx="45720" cy="841248"/>
          </a:xfrm>
          <a:prstGeom prst="rect">
            <a:avLst/>
          </a:prstGeom>
          <a:solidFill>
            <a:srgbClr val="6B857B"/>
          </a:solidFill>
        </p:spPr>
      </p:sp>
      <p:sp>
        <p:nvSpPr>
          <p:cNvPr id="29" name="Text 27"/>
          <p:cNvSpPr/>
          <p:nvPr/>
        </p:nvSpPr>
        <p:spPr>
          <a:xfrm>
            <a:off x="2724912" y="3639312"/>
            <a:ext cx="16550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Workday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24912" y="3877056"/>
            <a:ext cx="1755625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Pump discreetly </a:t>
            </a:r>
            <a:r>
              <a:rPr lang="en-US" altLang="zh-CN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and effectively</a:t>
            </a: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throughout the workday.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54296" y="3566160"/>
            <a:ext cx="191109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54296" y="3566160"/>
            <a:ext cx="45720" cy="841248"/>
          </a:xfrm>
          <a:prstGeom prst="rect">
            <a:avLst/>
          </a:prstGeom>
          <a:solidFill>
            <a:srgbClr val="6B857B"/>
          </a:solidFill>
        </p:spPr>
      </p:sp>
      <p:sp>
        <p:nvSpPr>
          <p:cNvPr id="33" name="Text 31"/>
          <p:cNvSpPr/>
          <p:nvPr/>
        </p:nvSpPr>
        <p:spPr>
          <a:xfrm>
            <a:off x="4800600" y="3639312"/>
            <a:ext cx="16550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 the Go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0600" y="3877056"/>
            <a:ext cx="1655064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Pump while commuting, shopping, or running errands.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729984" y="3566160"/>
            <a:ext cx="191109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29984" y="3566160"/>
            <a:ext cx="45720" cy="841248"/>
          </a:xfrm>
          <a:prstGeom prst="rect">
            <a:avLst/>
          </a:prstGeom>
          <a:solidFill>
            <a:srgbClr val="6B857B"/>
          </a:solidFill>
        </p:spPr>
      </p:sp>
      <p:sp>
        <p:nvSpPr>
          <p:cNvPr id="37" name="Text 35"/>
          <p:cNvSpPr/>
          <p:nvPr/>
        </p:nvSpPr>
        <p:spPr>
          <a:xfrm>
            <a:off x="6876288" y="3639312"/>
            <a:ext cx="16550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Nighttime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76288" y="3877056"/>
            <a:ext cx="1655064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Pump </a:t>
            </a:r>
            <a:r>
              <a:rPr lang="en-US" altLang="zh-CN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comfortably</a:t>
            </a: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with minimal disruption.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02920" y="4777740"/>
            <a:ext cx="7589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E646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*Based on available market data as of November 2025.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183880" y="4777740"/>
            <a:ext cx="457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900" dirty="0"/>
          </a:p>
        </p:txBody>
      </p:sp>
      <p:pic>
        <p:nvPicPr>
          <p:cNvPr id="41" name="图片 40" descr="upload_post_object_v2_16514057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9460" y="1296796"/>
            <a:ext cx="1443025" cy="1868666"/>
          </a:xfrm>
          <a:prstGeom prst="rect">
            <a:avLst/>
          </a:prstGeom>
        </p:spPr>
      </p:pic>
      <p:pic>
        <p:nvPicPr>
          <p:cNvPr id="42" name="图片 41" descr="upload_post_object_v2_3511826724"/>
          <p:cNvPicPr>
            <a:picLocks noChangeAspect="1"/>
          </p:cNvPicPr>
          <p:nvPr/>
        </p:nvPicPr>
        <p:blipFill>
          <a:blip r:embed="rId3"/>
          <a:srcRect b="25990"/>
          <a:stretch>
            <a:fillRect/>
          </a:stretch>
        </p:blipFill>
        <p:spPr>
          <a:xfrm>
            <a:off x="548630" y="1451452"/>
            <a:ext cx="2110858" cy="15593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Text 1"/>
          <p:cNvSpPr/>
          <p:nvPr/>
        </p:nvSpPr>
        <p:spPr>
          <a:xfrm>
            <a:off x="502920" y="237744"/>
            <a:ext cx="8138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SELLING POINTS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Selling points, by priority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850392"/>
            <a:ext cx="8138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P0 messages must appear. P1 and P2 are selectable — choose one of each. P3 is optional.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02920" y="1225296"/>
          <a:ext cx="8138160" cy="2917190"/>
        </p:xfrm>
        <a:graphic>
          <a:graphicData uri="http://schemas.openxmlformats.org/drawingml/2006/table">
            <a:tbl>
              <a:tblPr/>
              <a:tblGrid>
                <a:gridCol w="502920"/>
                <a:gridCol w="1832089"/>
                <a:gridCol w="5803151"/>
              </a:tblGrid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Tier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Key message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What this means for moms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P0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Full-Surface Warmth</a:t>
                      </a:r>
                      <a:endParaRPr lang="en-US" sz="750" b="1" dirty="0">
                        <a:solidFill>
                          <a:srgbClr val="6A2B3A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Three adjustable warmth levels</a:t>
                      </a: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 cover the </a:t>
                      </a:r>
                      <a:r>
                        <a:rPr lang="en-US" sz="75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full flange-to-breast contact area</a:t>
                      </a: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, helping you feel more relaxed before pumping starts.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P0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5-Zone Suction-Synced Massage</a:t>
                      </a:r>
                      <a:endParaRPr lang="en-US" sz="750" b="1" dirty="0">
                        <a:solidFill>
                          <a:srgbClr val="6A2B3A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Five massage zones</a:t>
                      </a: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 pulse when the pump pulls and pause when it releases, instead of buzzing continuously throughout the session..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P1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A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DoubleFit™ Soft Dual-Layer Flange</a:t>
                      </a:r>
                      <a:endParaRPr lang="en-US" sz="750" b="1" dirty="0">
                        <a:solidFill>
                          <a:srgbClr val="6A2B3A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The soft inner layer sits gently against your skin, while the supportive outer layer helps keep a steady seal as you move.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</a:t>
                      </a:r>
                      <a:r>
                        <a:rPr lang="en-US" altLang="zh-CN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A7E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Smart App Control</a:t>
                      </a:r>
                      <a:endParaRPr lang="en-US" sz="750" b="1" dirty="0">
                        <a:solidFill>
                          <a:srgbClr val="6A2B3A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Start, pause, adjust suction levels, and log your milk output—all from your phone.</a:t>
                      </a:r>
                      <a:endParaRPr lang="en-US" sz="750" dirty="0">
                        <a:solidFill>
                          <a:srgbClr val="3B3538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</a:t>
                      </a:r>
                      <a:r>
                        <a:rPr lang="en-US" altLang="zh-CN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A7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Easy to Use</a:t>
                      </a:r>
                      <a:endParaRPr lang="en-US" sz="750" b="1" dirty="0">
                        <a:solidFill>
                          <a:srgbClr val="6A2B3A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One-press release</a:t>
                      </a: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 makes removal easier, and only</a:t>
                      </a:r>
                      <a:r>
                        <a:rPr lang="en-US" sz="75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 five washable parts </a:t>
                      </a: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after use.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65176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P2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8A3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Transparent Top &amp; 6 oz Collector</a:t>
                      </a:r>
                      <a:endParaRPr lang="en-US" sz="750" b="1" dirty="0">
                        <a:solidFill>
                          <a:srgbClr val="6A2B3A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The</a:t>
                      </a:r>
                      <a:r>
                        <a:rPr lang="en-US" sz="75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 transparent top</a:t>
                      </a: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 lets you check nipple alignment and milk flow without removing the pump, while the</a:t>
                      </a:r>
                      <a:r>
                        <a:rPr lang="en-US" sz="75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 6 oz collector</a:t>
                      </a: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 supports longer sessions.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P2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8A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Expert-Tuned Programs &amp; Personalized Rhythm</a:t>
                      </a:r>
                      <a:endParaRPr lang="en-US" sz="750" b="1" dirty="0">
                        <a:solidFill>
                          <a:srgbClr val="6A2B3A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Start with an expert-tuned program, then adjust warmth, massage, suction, and modes in the App and save your preferred rhythm.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</a:t>
                      </a:r>
                      <a:r>
                        <a:rPr lang="en-US" altLang="zh-CN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2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8A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SoftPulse Baby-Like Suction</a:t>
                      </a:r>
                      <a:endParaRPr lang="en-US" sz="750" b="1" dirty="0">
                        <a:solidFill>
                          <a:srgbClr val="6A2B3A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Small, steady micro pulses feel more like a </a:t>
                      </a:r>
                      <a:r>
                        <a:rPr lang="en-US" sz="75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baby’s natural suck</a:t>
                      </a: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—gentler on the breast, with up to 295 mmHg strength available when needed.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P3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4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Auto Shutoff</a:t>
                      </a:r>
                      <a:endParaRPr lang="en-US" sz="750" b="1" dirty="0">
                        <a:solidFill>
                          <a:srgbClr val="6A2B3A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Massage stops automatically after 5 minutes and warmth after 15 minutes by default, so you do not need to keep checking the clock.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P3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4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Long Battery Use</a:t>
                      </a:r>
                      <a:endParaRPr lang="en-US" sz="750" b="1" dirty="0">
                        <a:solidFill>
                          <a:srgbClr val="6A2B3A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Get up to </a:t>
                      </a:r>
                      <a:r>
                        <a:rPr lang="en-US" sz="75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10 pumping-only sessions </a:t>
                      </a: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on one charge, or up to 6 with warmth and massage on, with massage noise below 50 dB.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183880" y="4777740"/>
            <a:ext cx="457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Text 1"/>
          <p:cNvSpPr/>
          <p:nvPr/>
        </p:nvSpPr>
        <p:spPr>
          <a:xfrm>
            <a:off x="502920" y="237744"/>
            <a:ext cx="8138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SPECIFICATIONS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Specs you may be asked about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850392"/>
            <a:ext cx="8138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Facts only. None of these numbers may be turned into a performance or health claim.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02920" y="1316736"/>
          <a:ext cx="8138160" cy="1975104"/>
        </p:xfrm>
        <a:graphic>
          <a:graphicData uri="http://schemas.openxmlformats.org/drawingml/2006/table">
            <a:tbl>
              <a:tblPr/>
              <a:tblGrid>
                <a:gridCol w="1417320"/>
                <a:gridCol w="2651760"/>
                <a:gridCol w="1417320"/>
                <a:gridCol w="2651760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Item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Spec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Item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Spec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Warmth levels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99°F / 102°F / 106°F (3 levels)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Massage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Surround massage, 3 levels, synced to suction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Max suction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Up to 295 mmHg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Collector capacity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6 oz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Parts to wash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5 milk-contact parts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Battery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Up to 10 sessions (pump only) / up to 6 (warmth + massage on)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Noise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Below 50 dB with massage on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Auto shutoff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Massage 5 min / warmth 15 min (default)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App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Momcozy App — warmth, massage, suction, modes, manual output log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Flange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DoubleFit™ soft dual-layer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502920" y="3931920"/>
            <a:ext cx="8138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Never phrase a spec as an outcome. “Three warmth levels” is a fact. “Warms you up so you pump more” is a claim — see the red lines in Part 3.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183880" y="4777740"/>
            <a:ext cx="457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B27A7E"/>
          </a:solidFill>
        </p:spPr>
      </p:sp>
      <p:sp>
        <p:nvSpPr>
          <p:cNvPr id="4" name="Shape 2"/>
          <p:cNvSpPr/>
          <p:nvPr/>
        </p:nvSpPr>
        <p:spPr>
          <a:xfrm>
            <a:off x="-1097280" y="2217420"/>
            <a:ext cx="4206240" cy="4206240"/>
          </a:xfrm>
          <a:prstGeom prst="ellipse">
            <a:avLst/>
          </a:prstGeom>
          <a:solidFill>
            <a:srgbClr val="8A3A4C"/>
          </a:solidFill>
        </p:spPr>
      </p:sp>
      <p:sp>
        <p:nvSpPr>
          <p:cNvPr id="5" name="Text 3"/>
          <p:cNvSpPr/>
          <p:nvPr/>
        </p:nvSpPr>
        <p:spPr>
          <a:xfrm>
            <a:off x="502920" y="1691640"/>
            <a:ext cx="18288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502920" y="2724912"/>
            <a:ext cx="6400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Content Brief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3255264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DAC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 Moms of Multiple Kids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Text 1"/>
          <p:cNvSpPr/>
          <p:nvPr/>
        </p:nvSpPr>
        <p:spPr>
          <a:xfrm>
            <a:off x="502920" y="237744"/>
            <a:ext cx="8138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VIDEO TOPICS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 topics to choose from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1042416"/>
            <a:ext cx="8138160" cy="512064"/>
          </a:xfrm>
          <a:prstGeom prst="roundRect">
            <a:avLst>
              <a:gd name="adj" fmla="val 8929"/>
            </a:avLst>
          </a:prstGeom>
          <a:solidFill>
            <a:srgbClr val="6A2B3A"/>
          </a:solidFill>
        </p:spPr>
      </p:sp>
      <p:sp>
        <p:nvSpPr>
          <p:cNvPr id="6" name="Text 4"/>
          <p:cNvSpPr/>
          <p:nvPr/>
        </p:nvSpPr>
        <p:spPr>
          <a:xfrm>
            <a:off x="667512" y="1188720"/>
            <a:ext cx="2560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DAC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★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78408" y="1124712"/>
            <a:ext cx="74797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Pick the one topic that fits your channel best. You know your audience better than we do — choose the angle you can genuinely pull off in your own life, and film that one.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1700784"/>
            <a:ext cx="8138160" cy="272034"/>
          </a:xfrm>
          <a:prstGeom prst="roundRect">
            <a:avLst>
              <a:gd name="adj" fmla="val 16807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00784"/>
            <a:ext cx="45720" cy="272034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10" name="Text 8"/>
          <p:cNvSpPr/>
          <p:nvPr/>
        </p:nvSpPr>
        <p:spPr>
          <a:xfrm>
            <a:off x="649224" y="1736217"/>
            <a:ext cx="310896" cy="201168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33272" y="1745361"/>
            <a:ext cx="3223063" cy="18288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priorities changed between babies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331731" y="1745361"/>
            <a:ext cx="46177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After Pumping for </a:t>
            </a:r>
            <a:r>
              <a:rPr lang="en-US" sz="850" b="1" i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［X］</a:t>
            </a:r>
            <a:r>
              <a:rPr lang="en-US" sz="850" i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Babies, Here’s What I Actually Look for in a Pump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2045970"/>
            <a:ext cx="8138160" cy="272034"/>
          </a:xfrm>
          <a:prstGeom prst="roundRect">
            <a:avLst>
              <a:gd name="adj" fmla="val 16807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045970"/>
            <a:ext cx="45720" cy="272034"/>
          </a:xfrm>
          <a:prstGeom prst="rect">
            <a:avLst/>
          </a:prstGeom>
          <a:solidFill>
            <a:srgbClr val="B27A7E"/>
          </a:solidFill>
        </p:spPr>
      </p:sp>
      <p:sp>
        <p:nvSpPr>
          <p:cNvPr id="15" name="Text 13"/>
          <p:cNvSpPr/>
          <p:nvPr/>
        </p:nvSpPr>
        <p:spPr>
          <a:xfrm>
            <a:off x="649224" y="2081403"/>
            <a:ext cx="310896" cy="201168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33272" y="2090547"/>
            <a:ext cx="3223063" cy="18288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Comparing W</a:t>
            </a:r>
            <a:r>
              <a:rPr lang="en-US" altLang="zh-CN" sz="85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elless </a:t>
            </a:r>
            <a:r>
              <a:rPr lang="en-US" sz="85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with pumps she has used before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331731" y="2090547"/>
            <a:ext cx="46177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I’ve Tried Different Breast Pumps — Here’s What Feels Different About W</a:t>
            </a:r>
            <a:r>
              <a:rPr lang="en-US" altLang="zh-CN" sz="850" i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ellness </a:t>
            </a:r>
            <a:r>
              <a:rPr lang="en-US" sz="850" i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2391156"/>
            <a:ext cx="8138160" cy="272034"/>
          </a:xfrm>
          <a:prstGeom prst="roundRect">
            <a:avLst>
              <a:gd name="adj" fmla="val 16807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391156"/>
            <a:ext cx="45720" cy="272034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20" name="Text 18"/>
          <p:cNvSpPr/>
          <p:nvPr/>
        </p:nvSpPr>
        <p:spPr>
          <a:xfrm>
            <a:off x="649224" y="2426589"/>
            <a:ext cx="310896" cy="201168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33272" y="2435733"/>
            <a:ext cx="3223063" cy="18288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she would choose W</a:t>
            </a:r>
            <a:r>
              <a:rPr lang="en-US" altLang="zh-CN" sz="85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ellness </a:t>
            </a:r>
            <a:r>
              <a:rPr lang="en-US" sz="85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331731" y="2435733"/>
            <a:ext cx="46177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 Reasons I’d Choose the Wellness 1 at This Stage of Motherhood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02920" y="2736342"/>
            <a:ext cx="8138160" cy="272034"/>
          </a:xfrm>
          <a:prstGeom prst="roundRect">
            <a:avLst>
              <a:gd name="adj" fmla="val 16807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2736342"/>
            <a:ext cx="45720" cy="272034"/>
          </a:xfrm>
          <a:prstGeom prst="rect">
            <a:avLst/>
          </a:prstGeom>
          <a:solidFill>
            <a:srgbClr val="B27A7E"/>
          </a:solidFill>
        </p:spPr>
      </p:sp>
      <p:sp>
        <p:nvSpPr>
          <p:cNvPr id="25" name="Text 23"/>
          <p:cNvSpPr/>
          <p:nvPr/>
        </p:nvSpPr>
        <p:spPr>
          <a:xfrm>
            <a:off x="649224" y="2771775"/>
            <a:ext cx="310896" cy="201168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33272" y="2780919"/>
            <a:ext cx="3223063" cy="18288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Testing W</a:t>
            </a:r>
            <a:r>
              <a:rPr lang="en-US" altLang="zh-CN" sz="85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ellness </a:t>
            </a:r>
            <a:r>
              <a:rPr lang="en-US" sz="85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during a real multi-child routine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331731" y="2780919"/>
            <a:ext cx="46177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Can This Pump Actually Fit Into a Multi-Kid Routine?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02920" y="3081528"/>
            <a:ext cx="8138160" cy="272034"/>
          </a:xfrm>
          <a:prstGeom prst="roundRect">
            <a:avLst>
              <a:gd name="adj" fmla="val 16807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3081528"/>
            <a:ext cx="45720" cy="272034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0" name="Text 28"/>
          <p:cNvSpPr/>
          <p:nvPr/>
        </p:nvSpPr>
        <p:spPr>
          <a:xfrm>
            <a:off x="649224" y="3116961"/>
            <a:ext cx="310896" cy="201168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33272" y="3126105"/>
            <a:ext cx="3223063" cy="18288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First-time mom versus experienced mom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331731" y="3126105"/>
            <a:ext cx="46177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Pump I Needed With My First Baby vs. What I Need Now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02920" y="3426714"/>
            <a:ext cx="8138160" cy="272034"/>
          </a:xfrm>
          <a:prstGeom prst="roundRect">
            <a:avLst>
              <a:gd name="adj" fmla="val 16807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3426714"/>
            <a:ext cx="45720" cy="272034"/>
          </a:xfrm>
          <a:prstGeom prst="rect">
            <a:avLst/>
          </a:prstGeom>
          <a:solidFill>
            <a:srgbClr val="B27A7E"/>
          </a:solidFill>
        </p:spPr>
      </p:sp>
      <p:sp>
        <p:nvSpPr>
          <p:cNvPr id="35" name="Text 33"/>
          <p:cNvSpPr/>
          <p:nvPr/>
        </p:nvSpPr>
        <p:spPr>
          <a:xfrm>
            <a:off x="649224" y="3462147"/>
            <a:ext cx="310896" cy="201168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33272" y="3471291"/>
            <a:ext cx="3223063" cy="18288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 in-depth review beyond suction strength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331731" y="3471291"/>
            <a:ext cx="46177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I Don’t Choose a Breast Pump Based on Suction Alone Anymore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02920" y="3771900"/>
            <a:ext cx="8138160" cy="272034"/>
          </a:xfrm>
          <a:prstGeom prst="roundRect">
            <a:avLst>
              <a:gd name="adj" fmla="val 16807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" y="3771900"/>
            <a:ext cx="45720" cy="272034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40" name="Text 38"/>
          <p:cNvSpPr/>
          <p:nvPr/>
        </p:nvSpPr>
        <p:spPr>
          <a:xfrm>
            <a:off x="649224" y="3807333"/>
            <a:ext cx="310896" cy="201168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07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33272" y="3816477"/>
            <a:ext cx="3223063" cy="18288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Pumping when several family needs overlap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331731" y="3816477"/>
            <a:ext cx="46177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 Use When Both Kids Need Me and I Still Have to Pump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02920" y="4117086"/>
            <a:ext cx="8138160" cy="272034"/>
          </a:xfrm>
          <a:prstGeom prst="roundRect">
            <a:avLst>
              <a:gd name="adj" fmla="val 16807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2920" y="4117086"/>
            <a:ext cx="45720" cy="272034"/>
          </a:xfrm>
          <a:prstGeom prst="rect">
            <a:avLst/>
          </a:prstGeom>
          <a:solidFill>
            <a:srgbClr val="B27A7E"/>
          </a:solidFill>
        </p:spPr>
      </p:sp>
      <p:sp>
        <p:nvSpPr>
          <p:cNvPr id="45" name="Text 43"/>
          <p:cNvSpPr/>
          <p:nvPr/>
        </p:nvSpPr>
        <p:spPr>
          <a:xfrm>
            <a:off x="649224" y="4152519"/>
            <a:ext cx="310896" cy="201168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08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33272" y="4161663"/>
            <a:ext cx="3223063" cy="18288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Reviewing the complete routine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331731" y="4161663"/>
            <a:ext cx="46177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Wear, Pump, Pour and Clean: My Honest W</a:t>
            </a:r>
            <a:r>
              <a:rPr lang="en-US" altLang="zh-CN" sz="850" i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ellness </a:t>
            </a:r>
            <a:r>
              <a:rPr lang="en-US" sz="850" i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Review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183880" y="4777740"/>
            <a:ext cx="457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Text 1"/>
          <p:cNvSpPr/>
          <p:nvPr/>
        </p:nvSpPr>
        <p:spPr>
          <a:xfrm>
            <a:off x="502920" y="237744"/>
            <a:ext cx="8138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VIDEO TOPICS — DETAIL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Topics 01–02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850392"/>
            <a:ext cx="8138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Scenario on the left, the </a:t>
            </a:r>
            <a:r>
              <a:rPr lang="en-US" altLang="zh-CN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related massages</a:t>
            </a: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to carry on the right.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25296"/>
            <a:ext cx="8138160" cy="1247242"/>
          </a:xfrm>
          <a:prstGeom prst="roundRect">
            <a:avLst>
              <a:gd name="adj" fmla="val 3666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25296"/>
            <a:ext cx="45720" cy="1247242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8" name="Text 6"/>
          <p:cNvSpPr/>
          <p:nvPr/>
        </p:nvSpPr>
        <p:spPr>
          <a:xfrm>
            <a:off x="630936" y="1307592"/>
            <a:ext cx="310896" cy="201168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96696" y="1298448"/>
            <a:ext cx="4754880" cy="2377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priorities changed between babies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96696" y="1536192"/>
            <a:ext cx="4754880" cy="2011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“After Pumping for </a:t>
            </a:r>
            <a:r>
              <a:rPr lang="en-US" sz="900" b="1" i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［X］</a:t>
            </a:r>
            <a:r>
              <a:rPr lang="en-US" sz="900" i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Babies, Here’s What I Actually Look for in a Pump”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96696" y="1737360"/>
            <a:ext cx="3977978" cy="50657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Establish credibility through experience and show how her priorities have evolved from suction alone to warmth, massage, visible alignment, app control and the complete routine.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142220" y="1316775"/>
            <a:ext cx="7315" cy="1064362"/>
          </a:xfrm>
          <a:prstGeom prst="rect">
            <a:avLst/>
          </a:prstGeom>
          <a:solidFill>
            <a:srgbClr val="EAD8D4"/>
          </a:solidFill>
        </p:spPr>
      </p:sp>
      <p:sp>
        <p:nvSpPr>
          <p:cNvPr id="13" name="Text 11"/>
          <p:cNvSpPr/>
          <p:nvPr/>
        </p:nvSpPr>
        <p:spPr>
          <a:xfrm>
            <a:off x="5226816" y="1307614"/>
            <a:ext cx="237744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MESSAGES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637133" y="1491186"/>
            <a:ext cx="2671715" cy="22731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Full-Surface Warmth.</a:t>
            </a:r>
            <a:endParaRPr lang="en-US" sz="800" b="1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637133" y="2005072"/>
            <a:ext cx="2597411" cy="173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 defTabSz="0" rtl="0" eaLnBrk="1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80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Expert-Tuned Programs &amp; Personalized Rhythm.</a:t>
            </a:r>
            <a:endParaRPr lang="en-US" sz="800" b="1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239941" y="2178832"/>
            <a:ext cx="2889504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Format:  </a:t>
            </a:r>
            <a:r>
              <a:rPr lang="en-US" sz="75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Experience-led video with real-life footage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02920" y="2582228"/>
            <a:ext cx="8138160" cy="1806854"/>
          </a:xfrm>
          <a:prstGeom prst="roundRect">
            <a:avLst>
              <a:gd name="adj" fmla="val 2530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2582266"/>
            <a:ext cx="45720" cy="1806854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26" name="Text 24"/>
          <p:cNvSpPr/>
          <p:nvPr/>
        </p:nvSpPr>
        <p:spPr>
          <a:xfrm>
            <a:off x="630936" y="2664562"/>
            <a:ext cx="310896" cy="201168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96696" y="2655418"/>
            <a:ext cx="4754880" cy="2377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Comparing W</a:t>
            </a:r>
            <a:r>
              <a:rPr lang="en-US" altLang="zh-CN" sz="1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ellness </a:t>
            </a:r>
            <a:r>
              <a:rPr lang="en-US" sz="1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with pumps </a:t>
            </a:r>
            <a:r>
              <a:rPr lang="en-US" altLang="zh-CN" sz="1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you </a:t>
            </a:r>
            <a:r>
              <a:rPr lang="en-US" sz="1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has used before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96696" y="2893162"/>
            <a:ext cx="4754880" cy="2011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“I’ve Tried Different Breast Pumps — Here’s What Feels Different About W1”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96696" y="3094330"/>
            <a:ext cx="4323733" cy="37124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goal is not to prove that W</a:t>
            </a:r>
            <a:r>
              <a:rPr lang="en-US" altLang="zh-CN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ellness </a:t>
            </a: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“beats” another pump. It is to explain why W</a:t>
            </a:r>
            <a:r>
              <a:rPr lang="en-US" altLang="zh-CN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ellness </a:t>
            </a: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better matches what she needs at this stage of motherhood.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56590" y="3520440"/>
            <a:ext cx="4386278" cy="640080"/>
          </a:xfrm>
          <a:prstGeom prst="roundRect">
            <a:avLst>
              <a:gd name="adj" fmla="val 7143"/>
            </a:avLst>
          </a:prstGeom>
          <a:solidFill>
            <a:srgbClr val="FBF0E6"/>
          </a:solidFill>
          <a:ln w="12700">
            <a:solidFill>
              <a:srgbClr val="B0662F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797210" y="3575304"/>
            <a:ext cx="4177444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B0662F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Comparison-shaped topic. You may only refer to “my old pump.” Do not name, show or hint at another brand — including packaging, logos and distinctive shapes in frame.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149533" y="2673719"/>
            <a:ext cx="7315" cy="1623974"/>
          </a:xfrm>
          <a:prstGeom prst="rect">
            <a:avLst/>
          </a:prstGeom>
          <a:solidFill>
            <a:srgbClr val="EAD8D4"/>
          </a:solidFill>
        </p:spPr>
      </p:sp>
      <p:sp>
        <p:nvSpPr>
          <p:cNvPr id="33" name="Text 31"/>
          <p:cNvSpPr/>
          <p:nvPr/>
        </p:nvSpPr>
        <p:spPr>
          <a:xfrm>
            <a:off x="5226807" y="2664582"/>
            <a:ext cx="237744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MESSAGES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642293" y="3329940"/>
            <a:ext cx="2487168" cy="173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 defTabSz="0" rtl="0" eaLnBrk="1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80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DoubleFit™ Soft Dual-Layer Flange.</a:t>
            </a:r>
            <a:endParaRPr lang="en-US" sz="800" b="1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239914" y="3575305"/>
            <a:ext cx="2889504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Format:  </a:t>
            </a:r>
            <a:r>
              <a:rPr lang="en-US" sz="75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In-depth review with on-screen comparisons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183880" y="4777740"/>
            <a:ext cx="457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</a:t>
            </a:r>
            <a:endParaRPr lang="en-US" sz="900" dirty="0"/>
          </a:p>
        </p:txBody>
      </p:sp>
      <p:grpSp>
        <p:nvGrpSpPr>
          <p:cNvPr id="46" name="组合 45"/>
          <p:cNvGrpSpPr/>
          <p:nvPr userDrawn="1"/>
        </p:nvGrpSpPr>
        <p:grpSpPr>
          <a:xfrm rot="0">
            <a:off x="5289550" y="1522730"/>
            <a:ext cx="347980" cy="164465"/>
            <a:chOff x="8957" y="2599"/>
            <a:chExt cx="547" cy="259"/>
          </a:xfrm>
        </p:grpSpPr>
        <p:sp>
          <p:nvSpPr>
            <p:cNvPr id="17" name="Shape 15"/>
            <p:cNvSpPr/>
            <p:nvPr/>
          </p:nvSpPr>
          <p:spPr>
            <a:xfrm>
              <a:off x="8957" y="2599"/>
              <a:ext cx="547" cy="259"/>
            </a:xfrm>
            <a:prstGeom prst="roundRect">
              <a:avLst>
                <a:gd name="adj" fmla="val 22222"/>
              </a:avLst>
            </a:prstGeom>
            <a:solidFill>
              <a:srgbClr val="6A2B3A"/>
            </a:solidFill>
          </p:spPr>
        </p:sp>
        <p:sp>
          <p:nvSpPr>
            <p:cNvPr id="18" name="Text 16"/>
            <p:cNvSpPr/>
            <p:nvPr/>
          </p:nvSpPr>
          <p:spPr>
            <a:xfrm>
              <a:off x="8957" y="2628"/>
              <a:ext cx="547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P0</a:t>
              </a:r>
              <a:endParaRPr lang="en-US" sz="700" dirty="0"/>
            </a:p>
          </p:txBody>
        </p:sp>
      </p:grpSp>
      <p:grpSp>
        <p:nvGrpSpPr>
          <p:cNvPr id="47" name="组合 46"/>
          <p:cNvGrpSpPr/>
          <p:nvPr userDrawn="1"/>
        </p:nvGrpSpPr>
        <p:grpSpPr>
          <a:xfrm rot="0">
            <a:off x="5289550" y="1996440"/>
            <a:ext cx="353060" cy="164465"/>
            <a:chOff x="8957" y="2866"/>
            <a:chExt cx="555" cy="259"/>
          </a:xfrm>
        </p:grpSpPr>
        <p:sp>
          <p:nvSpPr>
            <p:cNvPr id="48" name="Shape 18"/>
            <p:cNvSpPr/>
            <p:nvPr/>
          </p:nvSpPr>
          <p:spPr>
            <a:xfrm>
              <a:off x="8957" y="2866"/>
              <a:ext cx="547" cy="259"/>
            </a:xfrm>
            <a:prstGeom prst="roundRect">
              <a:avLst>
                <a:gd name="adj" fmla="val 22222"/>
              </a:avLst>
            </a:prstGeom>
            <a:solidFill>
              <a:srgbClr val="D9A8A3"/>
            </a:solidFill>
          </p:spPr>
        </p:sp>
        <p:sp>
          <p:nvSpPr>
            <p:cNvPr id="49" name="Text 19"/>
            <p:cNvSpPr/>
            <p:nvPr/>
          </p:nvSpPr>
          <p:spPr>
            <a:xfrm>
              <a:off x="8965" y="2886"/>
              <a:ext cx="547" cy="230"/>
            </a:xfrm>
            <a:prstGeom prst="rect">
              <a:avLst/>
            </a:prstGeom>
            <a:noFill/>
          </p:spPr>
          <p:txBody>
            <a:bodyPr wrap="square" rtlCol="0" anchor="ctr"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P2</a:t>
              </a:r>
              <a:endParaRPr lang="en-US" sz="700" dirty="0"/>
            </a:p>
          </p:txBody>
        </p:sp>
      </p:grpSp>
      <p:grpSp>
        <p:nvGrpSpPr>
          <p:cNvPr id="87" name="组合 86"/>
          <p:cNvGrpSpPr/>
          <p:nvPr userDrawn="1"/>
        </p:nvGrpSpPr>
        <p:grpSpPr>
          <a:xfrm>
            <a:off x="5289550" y="1762125"/>
            <a:ext cx="3350895" cy="173990"/>
            <a:chOff x="8330" y="2775"/>
            <a:chExt cx="5277" cy="274"/>
          </a:xfrm>
        </p:grpSpPr>
        <p:sp>
          <p:nvSpPr>
            <p:cNvPr id="19" name="Text 17"/>
            <p:cNvSpPr/>
            <p:nvPr/>
          </p:nvSpPr>
          <p:spPr>
            <a:xfrm>
              <a:off x="8877" y="2775"/>
              <a:ext cx="4731" cy="274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 defTabSz="0" rtl="0" eaLnBrk="1" latinLnBrk="0" hangingPunct="1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sz="800" b="1" dirty="0">
                  <a:solidFill>
                    <a:srgbClr val="3B3538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5-Zone Suction-Synced Massage.</a:t>
              </a:r>
              <a:endParaRPr lang="en-US" sz="80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0" name="组合 49"/>
            <p:cNvGrpSpPr/>
            <p:nvPr userDrawn="1"/>
          </p:nvGrpSpPr>
          <p:grpSpPr>
            <a:xfrm rot="0">
              <a:off x="8330" y="2775"/>
              <a:ext cx="547" cy="259"/>
              <a:chOff x="8957" y="2599"/>
              <a:chExt cx="547" cy="259"/>
            </a:xfrm>
          </p:grpSpPr>
          <p:sp>
            <p:nvSpPr>
              <p:cNvPr id="51" name="Shape 15"/>
              <p:cNvSpPr/>
              <p:nvPr/>
            </p:nvSpPr>
            <p:spPr>
              <a:xfrm>
                <a:off x="8957" y="2599"/>
                <a:ext cx="547" cy="259"/>
              </a:xfrm>
              <a:prstGeom prst="roundRect">
                <a:avLst>
                  <a:gd name="adj" fmla="val 22222"/>
                </a:avLst>
              </a:prstGeom>
              <a:solidFill>
                <a:srgbClr val="6A2B3A"/>
              </a:solidFill>
            </p:spPr>
          </p:sp>
          <p:sp>
            <p:nvSpPr>
              <p:cNvPr id="52" name="Text 16"/>
              <p:cNvSpPr/>
              <p:nvPr/>
            </p:nvSpPr>
            <p:spPr>
              <a:xfrm>
                <a:off x="8957" y="2628"/>
                <a:ext cx="547" cy="230"/>
              </a:xfrm>
              <a:prstGeom prst="rect">
                <a:avLst/>
              </a:prstGeom>
              <a:noFill/>
            </p:spPr>
            <p:txBody>
              <a:bodyPr wrap="square" rtlCol="0" anchor="ctr"/>
              <a:p>
                <a:pPr marL="0" indent="0" algn="ctr">
                  <a:buNone/>
                </a:pPr>
                <a:r>
                  <a:rPr 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P0</a:t>
                </a:r>
                <a:endParaRPr lang="en-US" sz="700" dirty="0"/>
              </a:p>
            </p:txBody>
          </p:sp>
        </p:grpSp>
      </p:grpSp>
      <p:grpSp>
        <p:nvGrpSpPr>
          <p:cNvPr id="88" name="组合 87"/>
          <p:cNvGrpSpPr/>
          <p:nvPr userDrawn="1"/>
        </p:nvGrpSpPr>
        <p:grpSpPr>
          <a:xfrm>
            <a:off x="5285105" y="2858135"/>
            <a:ext cx="2844165" cy="647700"/>
            <a:chOff x="8323" y="4501"/>
            <a:chExt cx="4479" cy="1020"/>
          </a:xfrm>
        </p:grpSpPr>
        <p:grpSp>
          <p:nvGrpSpPr>
            <p:cNvPr id="81" name="组合 80"/>
            <p:cNvGrpSpPr/>
            <p:nvPr userDrawn="1"/>
          </p:nvGrpSpPr>
          <p:grpSpPr>
            <a:xfrm>
              <a:off x="8323" y="4501"/>
              <a:ext cx="4479" cy="272"/>
              <a:chOff x="8323" y="4501"/>
              <a:chExt cx="4479" cy="272"/>
            </a:xfrm>
          </p:grpSpPr>
          <p:sp>
            <p:nvSpPr>
              <p:cNvPr id="36" name="Text 34"/>
              <p:cNvSpPr/>
              <p:nvPr/>
            </p:nvSpPr>
            <p:spPr>
              <a:xfrm>
                <a:off x="8886" y="4501"/>
                <a:ext cx="3917" cy="274"/>
              </a:xfrm>
              <a:prstGeom prst="rect">
                <a:avLst/>
              </a:prstGeom>
              <a:noFill/>
            </p:spPr>
            <p:txBody>
              <a:bodyPr wrap="square" rtlCol="0" anchor="ctr"/>
              <a:lstStyle/>
              <a:p>
                <a:pPr marL="0" indent="0" algn="l" defTabSz="0" rtl="0" eaLnBrk="1" latinLnBrk="0" hangingPunct="1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sz="800" b="1" dirty="0">
                    <a:solidFill>
                      <a:srgbClr val="3B3538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Full-Surface Warmth.</a:t>
                </a:r>
                <a:endParaRPr lang="en-US" sz="800" b="1" dirty="0">
                  <a:solidFill>
                    <a:srgbClr val="3B3538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9" name="组合 58"/>
              <p:cNvGrpSpPr/>
              <p:nvPr userDrawn="1"/>
            </p:nvGrpSpPr>
            <p:grpSpPr>
              <a:xfrm rot="0">
                <a:off x="8323" y="4508"/>
                <a:ext cx="547" cy="259"/>
                <a:chOff x="8957" y="2599"/>
                <a:chExt cx="547" cy="259"/>
              </a:xfrm>
            </p:grpSpPr>
            <p:sp>
              <p:nvSpPr>
                <p:cNvPr id="60" name="Shape 15"/>
                <p:cNvSpPr/>
                <p:nvPr/>
              </p:nvSpPr>
              <p:spPr>
                <a:xfrm>
                  <a:off x="8957" y="2599"/>
                  <a:ext cx="547" cy="259"/>
                </a:xfrm>
                <a:prstGeom prst="roundRect">
                  <a:avLst>
                    <a:gd name="adj" fmla="val 22222"/>
                  </a:avLst>
                </a:prstGeom>
                <a:solidFill>
                  <a:srgbClr val="6A2B3A"/>
                </a:solidFill>
              </p:spPr>
            </p:sp>
            <p:sp>
              <p:nvSpPr>
                <p:cNvPr id="61" name="Text 16"/>
                <p:cNvSpPr/>
                <p:nvPr/>
              </p:nvSpPr>
              <p:spPr>
                <a:xfrm>
                  <a:off x="8957" y="2628"/>
                  <a:ext cx="547" cy="230"/>
                </a:xfrm>
                <a:prstGeom prst="rect">
                  <a:avLst/>
                </a:prstGeom>
                <a:noFill/>
              </p:spPr>
              <p:txBody>
                <a:bodyPr wrap="square" rtlCol="0" anchor="ctr"/>
                <a:p>
                  <a:pPr marL="0" indent="0" algn="ctr">
                    <a:buNone/>
                  </a:pPr>
                  <a:r>
                    <a:rPr lang="en-US" sz="700" b="1" dirty="0">
                      <a:solidFill>
                        <a:srgbClr val="FFFFFF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</a:rPr>
                    <a:t>P0</a:t>
                  </a:r>
                  <a:endParaRPr lang="en-US" sz="700" dirty="0"/>
                </a:p>
              </p:txBody>
            </p:sp>
          </p:grpSp>
        </p:grpSp>
        <p:grpSp>
          <p:nvGrpSpPr>
            <p:cNvPr id="72" name="组合 71"/>
            <p:cNvGrpSpPr/>
            <p:nvPr userDrawn="1"/>
          </p:nvGrpSpPr>
          <p:grpSpPr>
            <a:xfrm rot="0">
              <a:off x="8330" y="5263"/>
              <a:ext cx="547" cy="259"/>
              <a:chOff x="8957" y="5003"/>
              <a:chExt cx="547" cy="259"/>
            </a:xfrm>
          </p:grpSpPr>
          <p:sp>
            <p:nvSpPr>
              <p:cNvPr id="73" name="Shape 38"/>
              <p:cNvSpPr/>
              <p:nvPr/>
            </p:nvSpPr>
            <p:spPr>
              <a:xfrm>
                <a:off x="8957" y="5003"/>
                <a:ext cx="547" cy="259"/>
              </a:xfrm>
              <a:prstGeom prst="roundRect">
                <a:avLst>
                  <a:gd name="adj" fmla="val 22222"/>
                </a:avLst>
              </a:prstGeom>
              <a:solidFill>
                <a:srgbClr val="B27A7E"/>
              </a:solidFill>
            </p:spPr>
          </p:sp>
          <p:sp>
            <p:nvSpPr>
              <p:cNvPr id="74" name="Text 39"/>
              <p:cNvSpPr/>
              <p:nvPr/>
            </p:nvSpPr>
            <p:spPr>
              <a:xfrm>
                <a:off x="8957" y="5017"/>
                <a:ext cx="547" cy="230"/>
              </a:xfrm>
              <a:prstGeom prst="rect">
                <a:avLst/>
              </a:prstGeom>
              <a:noFill/>
            </p:spPr>
            <p:txBody>
              <a:bodyPr wrap="square" rtlCol="0" anchor="ctr"/>
              <a:p>
                <a:pPr marL="0" indent="0" algn="ctr">
                  <a:buNone/>
                </a:pPr>
                <a:r>
                  <a:rPr 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P1</a:t>
                </a:r>
                <a:endParaRPr lang="en-US" sz="700" dirty="0"/>
              </a:p>
            </p:txBody>
          </p:sp>
        </p:grpSp>
        <p:grpSp>
          <p:nvGrpSpPr>
            <p:cNvPr id="82" name="组合 81"/>
            <p:cNvGrpSpPr/>
            <p:nvPr userDrawn="1"/>
          </p:nvGrpSpPr>
          <p:grpSpPr>
            <a:xfrm>
              <a:off x="8330" y="4855"/>
              <a:ext cx="4472" cy="274"/>
              <a:chOff x="8330" y="4855"/>
              <a:chExt cx="4472" cy="274"/>
            </a:xfrm>
          </p:grpSpPr>
          <p:sp>
            <p:nvSpPr>
              <p:cNvPr id="39" name="Text 37"/>
              <p:cNvSpPr/>
              <p:nvPr/>
            </p:nvSpPr>
            <p:spPr>
              <a:xfrm>
                <a:off x="8886" y="4855"/>
                <a:ext cx="3917" cy="274"/>
              </a:xfrm>
              <a:prstGeom prst="rect">
                <a:avLst/>
              </a:prstGeom>
              <a:noFill/>
            </p:spPr>
            <p:txBody>
              <a:bodyPr wrap="square" rtlCol="0" anchor="ctr"/>
              <a:lstStyle/>
              <a:p>
                <a:pPr marL="0" indent="0" algn="l" defTabSz="0" rtl="0" eaLnBrk="1" latinLnBrk="0" hangingPunct="1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sz="800" b="1" dirty="0">
                    <a:solidFill>
                      <a:srgbClr val="3B3538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5-Zone Suction-Synced Massage.</a:t>
                </a:r>
                <a:endParaRPr lang="en-US" sz="800" b="1" dirty="0">
                  <a:solidFill>
                    <a:srgbClr val="3B3538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78" name="组合 77"/>
              <p:cNvGrpSpPr/>
              <p:nvPr userDrawn="1"/>
            </p:nvGrpSpPr>
            <p:grpSpPr>
              <a:xfrm rot="0">
                <a:off x="8330" y="4862"/>
                <a:ext cx="547" cy="259"/>
                <a:chOff x="8957" y="2599"/>
                <a:chExt cx="547" cy="259"/>
              </a:xfrm>
            </p:grpSpPr>
            <p:sp>
              <p:nvSpPr>
                <p:cNvPr id="79" name="Shape 15"/>
                <p:cNvSpPr/>
                <p:nvPr/>
              </p:nvSpPr>
              <p:spPr>
                <a:xfrm>
                  <a:off x="8957" y="2599"/>
                  <a:ext cx="547" cy="259"/>
                </a:xfrm>
                <a:prstGeom prst="roundRect">
                  <a:avLst>
                    <a:gd name="adj" fmla="val 22222"/>
                  </a:avLst>
                </a:prstGeom>
                <a:solidFill>
                  <a:srgbClr val="6A2B3A"/>
                </a:solidFill>
              </p:spPr>
            </p:sp>
            <p:sp>
              <p:nvSpPr>
                <p:cNvPr id="80" name="Text 16"/>
                <p:cNvSpPr/>
                <p:nvPr/>
              </p:nvSpPr>
              <p:spPr>
                <a:xfrm>
                  <a:off x="8957" y="2628"/>
                  <a:ext cx="547" cy="230"/>
                </a:xfrm>
                <a:prstGeom prst="rect">
                  <a:avLst/>
                </a:prstGeom>
                <a:noFill/>
              </p:spPr>
              <p:txBody>
                <a:bodyPr wrap="square" rtlCol="0" anchor="ctr"/>
                <a:p>
                  <a:pPr marL="0" indent="0" algn="ctr">
                    <a:buNone/>
                  </a:pPr>
                  <a:r>
                    <a:rPr lang="en-US" sz="700" b="1" dirty="0">
                      <a:solidFill>
                        <a:srgbClr val="FFFFFF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</a:rPr>
                    <a:t>P0</a:t>
                  </a:r>
                  <a:endParaRPr lang="en-US" sz="700" dirty="0"/>
                </a:p>
              </p:txBody>
            </p:sp>
          </p:grp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Text 1"/>
          <p:cNvSpPr/>
          <p:nvPr/>
        </p:nvSpPr>
        <p:spPr>
          <a:xfrm>
            <a:off x="502920" y="237744"/>
            <a:ext cx="8138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VIDEO TOPICS — DETAIL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Topics 03–04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850392"/>
            <a:ext cx="8138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Scenario on the left, the key messages to carry on the right.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25296"/>
            <a:ext cx="8138160" cy="1527048"/>
          </a:xfrm>
          <a:prstGeom prst="roundRect">
            <a:avLst>
              <a:gd name="adj" fmla="val 2994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25296"/>
            <a:ext cx="45720" cy="1527048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8" name="Text 6"/>
          <p:cNvSpPr/>
          <p:nvPr/>
        </p:nvSpPr>
        <p:spPr>
          <a:xfrm>
            <a:off x="630936" y="1307592"/>
            <a:ext cx="310896" cy="201168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96696" y="1298448"/>
            <a:ext cx="4754880" cy="2377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she would choose W</a:t>
            </a:r>
            <a:r>
              <a:rPr lang="en-US" altLang="zh-CN" sz="1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ellness </a:t>
            </a:r>
            <a:r>
              <a:rPr lang="en-US" sz="1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96696" y="1536192"/>
            <a:ext cx="4754880" cy="2011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“3 Reasons I’d Choose the Wellness 1 at This Stage of Motherhood”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96696" y="1737360"/>
            <a:ext cx="4754880" cy="37124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Provide clear and easy-to-understand reasons for choosing W</a:t>
            </a:r>
            <a:r>
              <a:rPr lang="en-US" altLang="zh-CN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ellness </a:t>
            </a: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1, while highlighting its differentiated combination of features.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577840" y="1316736"/>
            <a:ext cx="7315" cy="1344168"/>
          </a:xfrm>
          <a:prstGeom prst="rect">
            <a:avLst/>
          </a:prstGeom>
          <a:solidFill>
            <a:srgbClr val="EAD8D4"/>
          </a:solidFill>
        </p:spPr>
      </p:sp>
      <p:sp>
        <p:nvSpPr>
          <p:cNvPr id="13" name="Text 11"/>
          <p:cNvSpPr/>
          <p:nvPr/>
        </p:nvSpPr>
        <p:spPr>
          <a:xfrm>
            <a:off x="5687568" y="1298448"/>
            <a:ext cx="237744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MESSAGES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075881" y="2232978"/>
            <a:ext cx="2889504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Format:  </a:t>
            </a:r>
            <a:r>
              <a:rPr lang="en-US" sz="75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“Three reasons” list-style video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02920" y="2862072"/>
            <a:ext cx="8138160" cy="1527048"/>
          </a:xfrm>
          <a:prstGeom prst="roundRect">
            <a:avLst>
              <a:gd name="adj" fmla="val 2994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2862072"/>
            <a:ext cx="45720" cy="1527048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26" name="Text 24"/>
          <p:cNvSpPr/>
          <p:nvPr/>
        </p:nvSpPr>
        <p:spPr>
          <a:xfrm>
            <a:off x="630936" y="2944368"/>
            <a:ext cx="310896" cy="201168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96696" y="2935224"/>
            <a:ext cx="4754880" cy="2377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Testing W</a:t>
            </a:r>
            <a:r>
              <a:rPr lang="en-US" altLang="zh-CN" sz="1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ellness </a:t>
            </a:r>
            <a:r>
              <a:rPr lang="en-US" sz="1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during a real multi-child routine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96696" y="3172968"/>
            <a:ext cx="4754880" cy="2011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“Can This Pump Actually Fit Into a Multi-Kid Routine?”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96696" y="3374136"/>
            <a:ext cx="4754880" cy="37124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Demonstrate through real life — not just verbal claims — how the pump can fit into a busy family routine.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577840" y="2953512"/>
            <a:ext cx="7315" cy="1344168"/>
          </a:xfrm>
          <a:prstGeom prst="rect">
            <a:avLst/>
          </a:prstGeom>
          <a:solidFill>
            <a:srgbClr val="EAD8D4"/>
          </a:solidFill>
        </p:spPr>
      </p:sp>
      <p:sp>
        <p:nvSpPr>
          <p:cNvPr id="31" name="Text 29"/>
          <p:cNvSpPr/>
          <p:nvPr/>
        </p:nvSpPr>
        <p:spPr>
          <a:xfrm>
            <a:off x="5687568" y="2935224"/>
            <a:ext cx="237744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MESSAGES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941864" y="3794824"/>
            <a:ext cx="2889504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Format:  </a:t>
            </a:r>
            <a:r>
              <a:rPr lang="en-US" sz="75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Day-in-the-life video with a real product test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8183880" y="4777740"/>
            <a:ext cx="457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</a:t>
            </a:r>
            <a:endParaRPr lang="en-US" sz="900" dirty="0"/>
          </a:p>
        </p:txBody>
      </p:sp>
      <p:sp>
        <p:nvSpPr>
          <p:cNvPr id="44" name="Text 14"/>
          <p:cNvSpPr/>
          <p:nvPr/>
        </p:nvSpPr>
        <p:spPr>
          <a:xfrm>
            <a:off x="6089888" y="3145552"/>
            <a:ext cx="2487168" cy="173736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endParaRPr lang="en-US" sz="750" dirty="0"/>
          </a:p>
        </p:txBody>
      </p:sp>
      <p:grpSp>
        <p:nvGrpSpPr>
          <p:cNvPr id="94" name="组合 93"/>
          <p:cNvGrpSpPr/>
          <p:nvPr userDrawn="1"/>
        </p:nvGrpSpPr>
        <p:grpSpPr>
          <a:xfrm>
            <a:off x="5758989" y="1568222"/>
            <a:ext cx="3351530" cy="406400"/>
            <a:chOff x="9056" y="2392"/>
            <a:chExt cx="5278" cy="640"/>
          </a:xfrm>
        </p:grpSpPr>
        <p:grpSp>
          <p:nvGrpSpPr>
            <p:cNvPr id="56" name="组合 55"/>
            <p:cNvGrpSpPr/>
            <p:nvPr userDrawn="1"/>
          </p:nvGrpSpPr>
          <p:grpSpPr>
            <a:xfrm>
              <a:off x="9056" y="2392"/>
              <a:ext cx="4479" cy="272"/>
              <a:chOff x="8323" y="4501"/>
              <a:chExt cx="4479" cy="272"/>
            </a:xfrm>
          </p:grpSpPr>
          <p:sp>
            <p:nvSpPr>
              <p:cNvPr id="57" name="Text 34"/>
              <p:cNvSpPr/>
              <p:nvPr/>
            </p:nvSpPr>
            <p:spPr>
              <a:xfrm>
                <a:off x="8886" y="4501"/>
                <a:ext cx="3917" cy="274"/>
              </a:xfrm>
              <a:prstGeom prst="rect">
                <a:avLst/>
              </a:prstGeom>
              <a:noFill/>
            </p:spPr>
            <p:txBody>
              <a:bodyPr wrap="square" rtlCol="0" anchor="ctr"/>
              <a:p>
                <a:pPr marL="0" indent="0">
                  <a:buNone/>
                </a:pPr>
                <a:r>
                  <a:rPr lang="en-US" sz="800" b="1" dirty="0">
                    <a:solidFill>
                      <a:srgbClr val="3B3538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Full-Surface Warmth</a:t>
                </a:r>
                <a:r>
                  <a:rPr lang="en-US" altLang="zh-CN" sz="800" b="1" dirty="0">
                    <a:solidFill>
                      <a:srgbClr val="3B3538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n-US" sz="800" b="1" dirty="0">
                  <a:solidFill>
                    <a:srgbClr val="3B3538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8" name="组合 57"/>
              <p:cNvGrpSpPr/>
              <p:nvPr userDrawn="1"/>
            </p:nvGrpSpPr>
            <p:grpSpPr>
              <a:xfrm rot="0">
                <a:off x="8323" y="4508"/>
                <a:ext cx="547" cy="259"/>
                <a:chOff x="8957" y="2599"/>
                <a:chExt cx="547" cy="259"/>
              </a:xfrm>
            </p:grpSpPr>
            <p:sp>
              <p:nvSpPr>
                <p:cNvPr id="62" name="Shape 15"/>
                <p:cNvSpPr/>
                <p:nvPr/>
              </p:nvSpPr>
              <p:spPr>
                <a:xfrm>
                  <a:off x="8957" y="2599"/>
                  <a:ext cx="547" cy="259"/>
                </a:xfrm>
                <a:prstGeom prst="roundRect">
                  <a:avLst>
                    <a:gd name="adj" fmla="val 22222"/>
                  </a:avLst>
                </a:prstGeom>
                <a:solidFill>
                  <a:srgbClr val="6A2B3A"/>
                </a:solidFill>
              </p:spPr>
            </p:sp>
            <p:sp>
              <p:nvSpPr>
                <p:cNvPr id="63" name="Text 16"/>
                <p:cNvSpPr/>
                <p:nvPr/>
              </p:nvSpPr>
              <p:spPr>
                <a:xfrm>
                  <a:off x="8957" y="2628"/>
                  <a:ext cx="547" cy="230"/>
                </a:xfrm>
                <a:prstGeom prst="rect">
                  <a:avLst/>
                </a:prstGeom>
                <a:noFill/>
              </p:spPr>
              <p:txBody>
                <a:bodyPr wrap="square" rtlCol="0" anchor="ctr"/>
                <a:p>
                  <a:pPr marL="0" indent="0" algn="ctr">
                    <a:buNone/>
                  </a:pPr>
                  <a:r>
                    <a:rPr lang="en-US" sz="700" b="1" dirty="0">
                      <a:solidFill>
                        <a:srgbClr val="FFFFFF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</a:rPr>
                    <a:t>P0</a:t>
                  </a:r>
                  <a:endParaRPr lang="en-US" sz="700" dirty="0"/>
                </a:p>
              </p:txBody>
            </p:sp>
          </p:grpSp>
        </p:grpSp>
        <p:grpSp>
          <p:nvGrpSpPr>
            <p:cNvPr id="87" name="组合 86"/>
            <p:cNvGrpSpPr/>
            <p:nvPr userDrawn="1"/>
          </p:nvGrpSpPr>
          <p:grpSpPr>
            <a:xfrm>
              <a:off x="9056" y="2754"/>
              <a:ext cx="5278" cy="278"/>
              <a:chOff x="8330" y="2756"/>
              <a:chExt cx="5278" cy="278"/>
            </a:xfrm>
          </p:grpSpPr>
          <p:sp>
            <p:nvSpPr>
              <p:cNvPr id="64" name="Text 17"/>
              <p:cNvSpPr/>
              <p:nvPr/>
            </p:nvSpPr>
            <p:spPr>
              <a:xfrm>
                <a:off x="8877" y="2756"/>
                <a:ext cx="4731" cy="274"/>
              </a:xfrm>
              <a:prstGeom prst="rect">
                <a:avLst/>
              </a:prstGeom>
              <a:noFill/>
            </p:spPr>
            <p:txBody>
              <a:bodyPr wrap="square" rtlCol="0" anchor="ctr"/>
              <a:p>
                <a:pPr marL="0" indent="0">
                  <a:buNone/>
                </a:pPr>
                <a:r>
                  <a:rPr lang="en-US" sz="800" b="1" dirty="0">
                    <a:solidFill>
                      <a:srgbClr val="3B3538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5-Zone Suction-Synced Massage</a:t>
                </a:r>
                <a:r>
                  <a:rPr lang="en-US" altLang="zh-CN" sz="800" b="1" dirty="0">
                    <a:solidFill>
                      <a:srgbClr val="3B3538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n-US" sz="800" b="1" dirty="0">
                  <a:solidFill>
                    <a:srgbClr val="3B3538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5" name="组合 64"/>
              <p:cNvGrpSpPr/>
              <p:nvPr userDrawn="1"/>
            </p:nvGrpSpPr>
            <p:grpSpPr>
              <a:xfrm rot="0">
                <a:off x="8330" y="2775"/>
                <a:ext cx="547" cy="259"/>
                <a:chOff x="8957" y="2599"/>
                <a:chExt cx="547" cy="259"/>
              </a:xfrm>
            </p:grpSpPr>
            <p:sp>
              <p:nvSpPr>
                <p:cNvPr id="66" name="Shape 15"/>
                <p:cNvSpPr/>
                <p:nvPr/>
              </p:nvSpPr>
              <p:spPr>
                <a:xfrm>
                  <a:off x="8957" y="2599"/>
                  <a:ext cx="547" cy="259"/>
                </a:xfrm>
                <a:prstGeom prst="roundRect">
                  <a:avLst>
                    <a:gd name="adj" fmla="val 22222"/>
                  </a:avLst>
                </a:prstGeom>
                <a:solidFill>
                  <a:srgbClr val="6A2B3A"/>
                </a:solidFill>
              </p:spPr>
            </p:sp>
            <p:sp>
              <p:nvSpPr>
                <p:cNvPr id="67" name="Text 16"/>
                <p:cNvSpPr/>
                <p:nvPr/>
              </p:nvSpPr>
              <p:spPr>
                <a:xfrm>
                  <a:off x="8957" y="2628"/>
                  <a:ext cx="547" cy="230"/>
                </a:xfrm>
                <a:prstGeom prst="rect">
                  <a:avLst/>
                </a:prstGeom>
                <a:noFill/>
              </p:spPr>
              <p:txBody>
                <a:bodyPr wrap="square" rtlCol="0" anchor="ctr"/>
                <a:p>
                  <a:pPr marL="0" indent="0" algn="ctr">
                    <a:buNone/>
                  </a:pPr>
                  <a:r>
                    <a:rPr lang="en-US" sz="700" b="1" dirty="0">
                      <a:solidFill>
                        <a:srgbClr val="FFFFFF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</a:rPr>
                    <a:t>P0</a:t>
                  </a:r>
                  <a:endParaRPr lang="en-US" sz="700" dirty="0"/>
                </a:p>
              </p:txBody>
            </p:sp>
          </p:grpSp>
        </p:grpSp>
      </p:grpSp>
      <p:grpSp>
        <p:nvGrpSpPr>
          <p:cNvPr id="68" name="组合 67"/>
          <p:cNvGrpSpPr/>
          <p:nvPr userDrawn="1"/>
        </p:nvGrpSpPr>
        <p:grpSpPr>
          <a:xfrm>
            <a:off x="5767295" y="3135474"/>
            <a:ext cx="3364230" cy="406400"/>
            <a:chOff x="9056" y="2392"/>
            <a:chExt cx="5298" cy="640"/>
          </a:xfrm>
        </p:grpSpPr>
        <p:grpSp>
          <p:nvGrpSpPr>
            <p:cNvPr id="69" name="组合 68"/>
            <p:cNvGrpSpPr/>
            <p:nvPr userDrawn="1"/>
          </p:nvGrpSpPr>
          <p:grpSpPr>
            <a:xfrm>
              <a:off x="9056" y="2392"/>
              <a:ext cx="4479" cy="272"/>
              <a:chOff x="8323" y="4501"/>
              <a:chExt cx="4479" cy="272"/>
            </a:xfrm>
          </p:grpSpPr>
          <p:sp>
            <p:nvSpPr>
              <p:cNvPr id="70" name="Text 34"/>
              <p:cNvSpPr/>
              <p:nvPr/>
            </p:nvSpPr>
            <p:spPr>
              <a:xfrm>
                <a:off x="8886" y="4501"/>
                <a:ext cx="3917" cy="274"/>
              </a:xfrm>
              <a:prstGeom prst="rect">
                <a:avLst/>
              </a:prstGeom>
              <a:noFill/>
            </p:spPr>
            <p:txBody>
              <a:bodyPr wrap="square" rtlCol="0" anchor="ctr"/>
              <a:p>
                <a:pPr marL="0" indent="0">
                  <a:buNone/>
                </a:pPr>
                <a:r>
                  <a:rPr lang="en-US" sz="800" b="1" dirty="0">
                    <a:solidFill>
                      <a:srgbClr val="3B3538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Full-Surface Warmth</a:t>
                </a:r>
                <a:r>
                  <a:rPr lang="en-US" altLang="zh-CN" sz="800" b="1" dirty="0">
                    <a:solidFill>
                      <a:srgbClr val="3B3538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n-US" sz="800" b="1" dirty="0">
                  <a:solidFill>
                    <a:srgbClr val="3B3538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71" name="组合 70"/>
              <p:cNvGrpSpPr/>
              <p:nvPr userDrawn="1"/>
            </p:nvGrpSpPr>
            <p:grpSpPr>
              <a:xfrm rot="0">
                <a:off x="8323" y="4508"/>
                <a:ext cx="547" cy="259"/>
                <a:chOff x="8957" y="2599"/>
                <a:chExt cx="547" cy="259"/>
              </a:xfrm>
            </p:grpSpPr>
            <p:sp>
              <p:nvSpPr>
                <p:cNvPr id="72" name="Shape 15"/>
                <p:cNvSpPr/>
                <p:nvPr/>
              </p:nvSpPr>
              <p:spPr>
                <a:xfrm>
                  <a:off x="8957" y="2599"/>
                  <a:ext cx="547" cy="259"/>
                </a:xfrm>
                <a:prstGeom prst="roundRect">
                  <a:avLst>
                    <a:gd name="adj" fmla="val 22222"/>
                  </a:avLst>
                </a:prstGeom>
                <a:solidFill>
                  <a:srgbClr val="6A2B3A"/>
                </a:solidFill>
              </p:spPr>
            </p:sp>
            <p:sp>
              <p:nvSpPr>
                <p:cNvPr id="73" name="Text 16"/>
                <p:cNvSpPr/>
                <p:nvPr/>
              </p:nvSpPr>
              <p:spPr>
                <a:xfrm>
                  <a:off x="8957" y="2628"/>
                  <a:ext cx="547" cy="230"/>
                </a:xfrm>
                <a:prstGeom prst="rect">
                  <a:avLst/>
                </a:prstGeom>
                <a:noFill/>
              </p:spPr>
              <p:txBody>
                <a:bodyPr wrap="square" rtlCol="0" anchor="ctr"/>
                <a:p>
                  <a:pPr marL="0" indent="0" algn="ctr">
                    <a:buNone/>
                  </a:pPr>
                  <a:r>
                    <a:rPr lang="en-US" sz="700" b="1" dirty="0">
                      <a:solidFill>
                        <a:srgbClr val="FFFFFF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</a:rPr>
                    <a:t>P0</a:t>
                  </a:r>
                  <a:endParaRPr lang="en-US" sz="700" dirty="0"/>
                </a:p>
              </p:txBody>
            </p:sp>
          </p:grpSp>
        </p:grpSp>
        <p:grpSp>
          <p:nvGrpSpPr>
            <p:cNvPr id="74" name="组合 73"/>
            <p:cNvGrpSpPr/>
            <p:nvPr userDrawn="1"/>
          </p:nvGrpSpPr>
          <p:grpSpPr>
            <a:xfrm>
              <a:off x="9056" y="2754"/>
              <a:ext cx="5298" cy="278"/>
              <a:chOff x="8330" y="2756"/>
              <a:chExt cx="5298" cy="278"/>
            </a:xfrm>
          </p:grpSpPr>
          <p:sp>
            <p:nvSpPr>
              <p:cNvPr id="75" name="Text 17"/>
              <p:cNvSpPr/>
              <p:nvPr/>
            </p:nvSpPr>
            <p:spPr>
              <a:xfrm>
                <a:off x="8897" y="2756"/>
                <a:ext cx="4731" cy="274"/>
              </a:xfrm>
              <a:prstGeom prst="rect">
                <a:avLst/>
              </a:prstGeom>
              <a:noFill/>
            </p:spPr>
            <p:txBody>
              <a:bodyPr wrap="square" rtlCol="0" anchor="ctr"/>
              <a:p>
                <a:pPr marL="0" indent="0">
                  <a:buNone/>
                </a:pPr>
                <a:r>
                  <a:rPr lang="en-US" sz="800" b="1" dirty="0">
                    <a:solidFill>
                      <a:srgbClr val="3B3538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5-Zone Suction-Synced Massage</a:t>
                </a:r>
                <a:r>
                  <a:rPr lang="en-US" altLang="zh-CN" sz="800" b="1" dirty="0">
                    <a:solidFill>
                      <a:srgbClr val="3B3538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n-US" sz="800" b="1" dirty="0">
                  <a:solidFill>
                    <a:srgbClr val="3B3538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76" name="组合 75"/>
              <p:cNvGrpSpPr/>
              <p:nvPr userDrawn="1"/>
            </p:nvGrpSpPr>
            <p:grpSpPr>
              <a:xfrm rot="0">
                <a:off x="8330" y="2775"/>
                <a:ext cx="547" cy="259"/>
                <a:chOff x="8957" y="2599"/>
                <a:chExt cx="547" cy="259"/>
              </a:xfrm>
            </p:grpSpPr>
            <p:sp>
              <p:nvSpPr>
                <p:cNvPr id="77" name="Shape 15"/>
                <p:cNvSpPr/>
                <p:nvPr/>
              </p:nvSpPr>
              <p:spPr>
                <a:xfrm>
                  <a:off x="8957" y="2599"/>
                  <a:ext cx="547" cy="259"/>
                </a:xfrm>
                <a:prstGeom prst="roundRect">
                  <a:avLst>
                    <a:gd name="adj" fmla="val 22222"/>
                  </a:avLst>
                </a:prstGeom>
                <a:solidFill>
                  <a:srgbClr val="6A2B3A"/>
                </a:solidFill>
              </p:spPr>
            </p:sp>
            <p:sp>
              <p:nvSpPr>
                <p:cNvPr id="83" name="Text 16"/>
                <p:cNvSpPr/>
                <p:nvPr/>
              </p:nvSpPr>
              <p:spPr>
                <a:xfrm>
                  <a:off x="8957" y="2628"/>
                  <a:ext cx="547" cy="230"/>
                </a:xfrm>
                <a:prstGeom prst="rect">
                  <a:avLst/>
                </a:prstGeom>
                <a:noFill/>
              </p:spPr>
              <p:txBody>
                <a:bodyPr wrap="square" rtlCol="0" anchor="ctr"/>
                <a:p>
                  <a:pPr marL="0" indent="0" algn="ctr">
                    <a:buNone/>
                  </a:pPr>
                  <a:r>
                    <a:rPr lang="en-US" sz="700" b="1" dirty="0">
                      <a:solidFill>
                        <a:srgbClr val="FFFFFF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</a:rPr>
                    <a:t>P0</a:t>
                  </a:r>
                  <a:endParaRPr lang="en-US" sz="700" dirty="0"/>
                </a:p>
              </p:txBody>
            </p:sp>
          </p:grpSp>
        </p:grpSp>
      </p:grpSp>
      <p:grpSp>
        <p:nvGrpSpPr>
          <p:cNvPr id="104" name="组合 103"/>
          <p:cNvGrpSpPr/>
          <p:nvPr userDrawn="1"/>
        </p:nvGrpSpPr>
        <p:grpSpPr>
          <a:xfrm>
            <a:off x="5758989" y="2086365"/>
            <a:ext cx="2844800" cy="183515"/>
            <a:chOff x="9136" y="3142"/>
            <a:chExt cx="4480" cy="289"/>
          </a:xfrm>
        </p:grpSpPr>
        <p:sp>
          <p:nvSpPr>
            <p:cNvPr id="22" name="Text 20"/>
            <p:cNvSpPr/>
            <p:nvPr/>
          </p:nvSpPr>
          <p:spPr>
            <a:xfrm>
              <a:off x="9700" y="3157"/>
              <a:ext cx="3917" cy="274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altLang="zh-CN" sz="800" b="1" dirty="0"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en-US" sz="800" b="1" dirty="0"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oftPuls</a:t>
              </a:r>
              <a:r>
                <a:rPr lang="en-US" altLang="zh-CN" sz="800" b="1" dirty="0"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e</a:t>
              </a:r>
              <a:r>
                <a:rPr lang="en-US" sz="800" b="1" dirty="0"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 Baby-Like Suction</a:t>
              </a:r>
              <a:r>
                <a:rPr lang="en-US" sz="800" dirty="0"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 for a smoother pumping experience</a:t>
              </a:r>
              <a:r>
                <a:rPr lang="en-US" altLang="zh-CN" sz="800" dirty="0"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en-US" sz="8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86" name="组合 85"/>
            <p:cNvGrpSpPr/>
            <p:nvPr userDrawn="1"/>
          </p:nvGrpSpPr>
          <p:grpSpPr>
            <a:xfrm>
              <a:off x="9136" y="3142"/>
              <a:ext cx="547" cy="259"/>
              <a:chOff x="8957" y="5443"/>
              <a:chExt cx="547" cy="259"/>
            </a:xfrm>
          </p:grpSpPr>
          <p:sp>
            <p:nvSpPr>
              <p:cNvPr id="88" name="Shape 36"/>
              <p:cNvSpPr/>
              <p:nvPr/>
            </p:nvSpPr>
            <p:spPr>
              <a:xfrm>
                <a:off x="8957" y="5443"/>
                <a:ext cx="547" cy="259"/>
              </a:xfrm>
              <a:prstGeom prst="roundRect">
                <a:avLst>
                  <a:gd name="adj" fmla="val 22222"/>
                </a:avLst>
              </a:prstGeom>
              <a:solidFill>
                <a:srgbClr val="D9A8A3"/>
              </a:solidFill>
            </p:spPr>
          </p:sp>
          <p:sp>
            <p:nvSpPr>
              <p:cNvPr id="89" name="Text 37"/>
              <p:cNvSpPr/>
              <p:nvPr/>
            </p:nvSpPr>
            <p:spPr>
              <a:xfrm>
                <a:off x="8957" y="5458"/>
                <a:ext cx="547" cy="230"/>
              </a:xfrm>
              <a:prstGeom prst="rect">
                <a:avLst/>
              </a:prstGeom>
              <a:noFill/>
            </p:spPr>
            <p:txBody>
              <a:bodyPr wrap="square" rtlCol="0" anchor="ctr"/>
              <a:p>
                <a:pPr marL="0" indent="0" algn="ctr">
                  <a:buNone/>
                </a:pPr>
                <a:r>
                  <a:rPr 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P2</a:t>
                </a:r>
                <a:endParaRPr lang="en-US" sz="700" dirty="0"/>
              </a:p>
            </p:txBody>
          </p:sp>
        </p:grpSp>
      </p:grpSp>
      <p:sp>
        <p:nvSpPr>
          <p:cNvPr id="91" name="Text 19"/>
          <p:cNvSpPr/>
          <p:nvPr/>
        </p:nvSpPr>
        <p:spPr>
          <a:xfrm>
            <a:off x="6125210" y="3666490"/>
            <a:ext cx="2353310" cy="17399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 algn="l" defTabSz="0" rtl="0" eaLnBrk="1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80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Easy to Use </a:t>
            </a:r>
            <a:r>
              <a:rPr lang="en-US" sz="80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with One-Press Assembly and Only 5 Parts to Clean.</a:t>
            </a:r>
            <a:endParaRPr lang="en-US" sz="800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6" name="组合 95"/>
          <p:cNvGrpSpPr/>
          <p:nvPr userDrawn="1"/>
        </p:nvGrpSpPr>
        <p:grpSpPr>
          <a:xfrm>
            <a:off x="5767138" y="3640551"/>
            <a:ext cx="347599" cy="164592"/>
            <a:chOff x="8957" y="5443"/>
            <a:chExt cx="547" cy="259"/>
          </a:xfrm>
        </p:grpSpPr>
        <p:sp>
          <p:nvSpPr>
            <p:cNvPr id="97" name="Shape 36"/>
            <p:cNvSpPr/>
            <p:nvPr/>
          </p:nvSpPr>
          <p:spPr>
            <a:xfrm>
              <a:off x="8957" y="5443"/>
              <a:ext cx="547" cy="259"/>
            </a:xfrm>
            <a:prstGeom prst="roundRect">
              <a:avLst>
                <a:gd name="adj" fmla="val 22222"/>
              </a:avLst>
            </a:prstGeom>
            <a:solidFill>
              <a:srgbClr val="D9A8A3"/>
            </a:solidFill>
          </p:spPr>
        </p:sp>
        <p:sp>
          <p:nvSpPr>
            <p:cNvPr id="98" name="Text 37"/>
            <p:cNvSpPr/>
            <p:nvPr/>
          </p:nvSpPr>
          <p:spPr>
            <a:xfrm>
              <a:off x="8957" y="5458"/>
              <a:ext cx="547" cy="230"/>
            </a:xfrm>
            <a:prstGeom prst="rect">
              <a:avLst/>
            </a:prstGeom>
            <a:noFill/>
          </p:spPr>
          <p:txBody>
            <a:bodyPr wrap="square" rtlCol="0" anchor="ctr"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P2</a:t>
              </a:r>
              <a:endParaRPr lang="en-US" sz="700" dirty="0"/>
            </a:p>
          </p:txBody>
        </p:sp>
      </p:grpSp>
      <p:grpSp>
        <p:nvGrpSpPr>
          <p:cNvPr id="99" name="组合 98"/>
          <p:cNvGrpSpPr/>
          <p:nvPr userDrawn="1"/>
        </p:nvGrpSpPr>
        <p:grpSpPr>
          <a:xfrm>
            <a:off x="5768918" y="3954801"/>
            <a:ext cx="2834657" cy="181335"/>
            <a:chOff x="9056" y="3672"/>
            <a:chExt cx="4464" cy="286"/>
          </a:xfrm>
        </p:grpSpPr>
        <p:grpSp>
          <p:nvGrpSpPr>
            <p:cNvPr id="100" name="组合 99"/>
            <p:cNvGrpSpPr/>
            <p:nvPr userDrawn="1"/>
          </p:nvGrpSpPr>
          <p:grpSpPr>
            <a:xfrm>
              <a:off x="9056" y="3672"/>
              <a:ext cx="556" cy="259"/>
              <a:chOff x="8957" y="2580"/>
              <a:chExt cx="556" cy="259"/>
            </a:xfrm>
          </p:grpSpPr>
          <p:sp>
            <p:nvSpPr>
              <p:cNvPr id="101" name="Shape 15"/>
              <p:cNvSpPr/>
              <p:nvPr/>
            </p:nvSpPr>
            <p:spPr>
              <a:xfrm>
                <a:off x="8957" y="2580"/>
                <a:ext cx="547" cy="259"/>
              </a:xfrm>
              <a:prstGeom prst="roundRect">
                <a:avLst>
                  <a:gd name="adj" fmla="val 22222"/>
                </a:avLst>
              </a:prstGeom>
              <a:solidFill>
                <a:srgbClr val="B27A7E"/>
              </a:solidFill>
            </p:spPr>
          </p:sp>
          <p:sp>
            <p:nvSpPr>
              <p:cNvPr id="102" name="Text 16"/>
              <p:cNvSpPr/>
              <p:nvPr/>
            </p:nvSpPr>
            <p:spPr>
              <a:xfrm>
                <a:off x="8966" y="2592"/>
                <a:ext cx="547" cy="230"/>
              </a:xfrm>
              <a:prstGeom prst="rect">
                <a:avLst/>
              </a:prstGeom>
              <a:noFill/>
            </p:spPr>
            <p:txBody>
              <a:bodyPr wrap="square" rtlCol="0" anchor="ctr"/>
              <a:p>
                <a:pPr marL="0" indent="0" algn="ctr">
                  <a:buNone/>
                </a:pPr>
                <a:r>
                  <a:rPr 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P1</a:t>
                </a:r>
                <a:endParaRPr lang="en-US" sz="700" dirty="0"/>
              </a:p>
            </p:txBody>
          </p:sp>
        </p:grpSp>
        <p:sp>
          <p:nvSpPr>
            <p:cNvPr id="103" name="Text 20"/>
            <p:cNvSpPr/>
            <p:nvPr/>
          </p:nvSpPr>
          <p:spPr>
            <a:xfrm>
              <a:off x="9603" y="3684"/>
              <a:ext cx="3917" cy="274"/>
            </a:xfrm>
            <a:prstGeom prst="rect">
              <a:avLst/>
            </a:prstGeom>
            <a:noFill/>
          </p:spPr>
          <p:txBody>
            <a:bodyPr wrap="square" rtlCol="0" anchor="ctr"/>
            <a:p>
              <a:pPr marL="0" indent="0">
                <a:buNone/>
              </a:pPr>
              <a:r>
                <a:rPr lang="en-US" sz="800" b="1" dirty="0"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Smart App Control</a:t>
              </a:r>
              <a:r>
                <a:rPr lang="en-US" altLang="zh-CN" sz="800" dirty="0"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: </a:t>
              </a:r>
              <a:r>
                <a:rPr lang="en-US" sz="800" dirty="0"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manage every session from your phone. </a:t>
              </a:r>
              <a:endParaRPr lang="en-US" sz="8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Text 1"/>
          <p:cNvSpPr/>
          <p:nvPr/>
        </p:nvSpPr>
        <p:spPr>
          <a:xfrm>
            <a:off x="502920" y="237744"/>
            <a:ext cx="8138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VIDEO TOPICS — DETAIL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Topics 05–06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850392"/>
            <a:ext cx="8138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Scenario on the left, the key messages to carry on the right.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25296"/>
            <a:ext cx="8138160" cy="1762963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25296"/>
            <a:ext cx="45720" cy="1762963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8" name="Text 6"/>
          <p:cNvSpPr/>
          <p:nvPr/>
        </p:nvSpPr>
        <p:spPr>
          <a:xfrm>
            <a:off x="630936" y="1307592"/>
            <a:ext cx="310896" cy="201168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96696" y="1298448"/>
            <a:ext cx="4754880" cy="2377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First-time mom versus experienced mom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96696" y="1536192"/>
            <a:ext cx="4754880" cy="2011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“The Pump I Needed With My First Baby vs. What I Need Now”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96696" y="1737360"/>
            <a:ext cx="4754880" cy="37124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 the evolution of her motherhood experience to explain why her product choice has changed.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96696" y="2163470"/>
            <a:ext cx="4381207" cy="343545"/>
          </a:xfrm>
          <a:prstGeom prst="roundRect">
            <a:avLst>
              <a:gd name="adj" fmla="val 8929"/>
            </a:avLst>
          </a:prstGeom>
          <a:solidFill>
            <a:srgbClr val="FBF0E6"/>
          </a:solidFill>
          <a:ln w="12700">
            <a:solidFill>
              <a:srgbClr val="B0662F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996681" y="2218329"/>
            <a:ext cx="4462272" cy="4023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B0662F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The comparison is between two versions of you — not between two brands. “My old pump” only.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577840" y="1316736"/>
            <a:ext cx="7315" cy="1580083"/>
          </a:xfrm>
          <a:prstGeom prst="rect">
            <a:avLst/>
          </a:prstGeom>
          <a:solidFill>
            <a:srgbClr val="EAD8D4"/>
          </a:solidFill>
        </p:spPr>
      </p:sp>
      <p:sp>
        <p:nvSpPr>
          <p:cNvPr id="15" name="Text 13"/>
          <p:cNvSpPr/>
          <p:nvPr/>
        </p:nvSpPr>
        <p:spPr>
          <a:xfrm>
            <a:off x="5687568" y="1298448"/>
            <a:ext cx="237744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MESSAGES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089888" y="1968706"/>
            <a:ext cx="2487168" cy="173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Transparent Top &amp; 6 oz Collector</a:t>
            </a:r>
            <a:endParaRPr lang="en-US" sz="800" b="1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642240" y="2529294"/>
            <a:ext cx="2889504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Format:  </a:t>
            </a:r>
            <a:r>
              <a:rPr lang="en-US" sz="75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Emotional storytelling, “Then vs. Now” comparison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02920" y="3097987"/>
            <a:ext cx="8138160" cy="1291133"/>
          </a:xfrm>
          <a:prstGeom prst="roundRect">
            <a:avLst>
              <a:gd name="adj" fmla="val 3541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097987"/>
            <a:ext cx="45720" cy="1291133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28" name="Text 26"/>
          <p:cNvSpPr/>
          <p:nvPr/>
        </p:nvSpPr>
        <p:spPr>
          <a:xfrm>
            <a:off x="630936" y="3180283"/>
            <a:ext cx="310896" cy="201168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96696" y="3171139"/>
            <a:ext cx="4754880" cy="2377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 in-depth review beyond suction strength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96696" y="3408883"/>
            <a:ext cx="4754880" cy="2011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“Why I Don’t Choose a Breast Pump Based on Suction Alone Anymore”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96696" y="3610051"/>
            <a:ext cx="4075586" cy="37124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Move beyond a specification-based comparison and demonstrate an experienced evaluation of the complete pumping routine.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577840" y="3189427"/>
            <a:ext cx="7315" cy="1108253"/>
          </a:xfrm>
          <a:prstGeom prst="rect">
            <a:avLst/>
          </a:prstGeom>
          <a:solidFill>
            <a:srgbClr val="EAD8D4"/>
          </a:solidFill>
        </p:spPr>
      </p:sp>
      <p:sp>
        <p:nvSpPr>
          <p:cNvPr id="33" name="Text 31"/>
          <p:cNvSpPr/>
          <p:nvPr/>
        </p:nvSpPr>
        <p:spPr>
          <a:xfrm>
            <a:off x="5687568" y="3171139"/>
            <a:ext cx="237744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MESSAGES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642240" y="4096536"/>
            <a:ext cx="2889504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Format:  </a:t>
            </a:r>
            <a:r>
              <a:rPr lang="en-US" sz="75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Educational in-depth review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183880" y="4777740"/>
            <a:ext cx="457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</a:t>
            </a:r>
            <a:endParaRPr lang="en-US" sz="900" dirty="0"/>
          </a:p>
        </p:txBody>
      </p:sp>
      <p:sp>
        <p:nvSpPr>
          <p:cNvPr id="45" name="Text 34"/>
          <p:cNvSpPr/>
          <p:nvPr/>
        </p:nvSpPr>
        <p:spPr>
          <a:xfrm>
            <a:off x="6089919" y="1508760"/>
            <a:ext cx="2487168" cy="173736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80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Full-Surface Warmth</a:t>
            </a:r>
            <a:endParaRPr lang="en-US" sz="800" b="1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37"/>
          <p:cNvSpPr/>
          <p:nvPr/>
        </p:nvSpPr>
        <p:spPr>
          <a:xfrm>
            <a:off x="6089888" y="1729756"/>
            <a:ext cx="2487168" cy="173736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80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5-Zone Suction-Synced Massage.</a:t>
            </a:r>
            <a:endParaRPr lang="en-US" sz="800" b="1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3" name="组合 82"/>
          <p:cNvGrpSpPr/>
          <p:nvPr userDrawn="1"/>
        </p:nvGrpSpPr>
        <p:grpSpPr>
          <a:xfrm>
            <a:off x="5684758" y="1499642"/>
            <a:ext cx="353060" cy="637540"/>
            <a:chOff x="8330" y="2398"/>
            <a:chExt cx="556" cy="1004"/>
          </a:xfrm>
        </p:grpSpPr>
        <p:grpSp>
          <p:nvGrpSpPr>
            <p:cNvPr id="48" name="组合 47"/>
            <p:cNvGrpSpPr/>
            <p:nvPr userDrawn="1"/>
          </p:nvGrpSpPr>
          <p:grpSpPr>
            <a:xfrm rot="0">
              <a:off x="8330" y="2398"/>
              <a:ext cx="548" cy="259"/>
              <a:chOff x="8957" y="2599"/>
              <a:chExt cx="547" cy="259"/>
            </a:xfrm>
          </p:grpSpPr>
          <p:sp>
            <p:nvSpPr>
              <p:cNvPr id="49" name="Shape 15"/>
              <p:cNvSpPr/>
              <p:nvPr/>
            </p:nvSpPr>
            <p:spPr>
              <a:xfrm>
                <a:off x="8957" y="2599"/>
                <a:ext cx="547" cy="259"/>
              </a:xfrm>
              <a:prstGeom prst="roundRect">
                <a:avLst>
                  <a:gd name="adj" fmla="val 22222"/>
                </a:avLst>
              </a:prstGeom>
              <a:solidFill>
                <a:srgbClr val="6A2B3A"/>
              </a:solidFill>
            </p:spPr>
          </p:sp>
          <p:sp>
            <p:nvSpPr>
              <p:cNvPr id="50" name="Text 16"/>
              <p:cNvSpPr/>
              <p:nvPr/>
            </p:nvSpPr>
            <p:spPr>
              <a:xfrm>
                <a:off x="8957" y="2628"/>
                <a:ext cx="547" cy="230"/>
              </a:xfrm>
              <a:prstGeom prst="rect">
                <a:avLst/>
              </a:prstGeom>
              <a:noFill/>
            </p:spPr>
            <p:txBody>
              <a:bodyPr wrap="square" rtlCol="0" anchor="ctr"/>
              <a:p>
                <a:pPr marL="0" indent="0" algn="ctr">
                  <a:buNone/>
                </a:pPr>
                <a:r>
                  <a:rPr 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P0</a:t>
                </a:r>
                <a:endParaRPr lang="en-US" sz="700" dirty="0"/>
              </a:p>
            </p:txBody>
          </p:sp>
        </p:grpSp>
        <p:grpSp>
          <p:nvGrpSpPr>
            <p:cNvPr id="51" name="组合 50"/>
            <p:cNvGrpSpPr/>
            <p:nvPr userDrawn="1"/>
          </p:nvGrpSpPr>
          <p:grpSpPr>
            <a:xfrm rot="0">
              <a:off x="8330" y="3144"/>
              <a:ext cx="556" cy="259"/>
              <a:chOff x="8957" y="2866"/>
              <a:chExt cx="555" cy="259"/>
            </a:xfrm>
          </p:grpSpPr>
          <p:sp>
            <p:nvSpPr>
              <p:cNvPr id="52" name="Shape 18"/>
              <p:cNvSpPr/>
              <p:nvPr/>
            </p:nvSpPr>
            <p:spPr>
              <a:xfrm>
                <a:off x="8957" y="2866"/>
                <a:ext cx="547" cy="259"/>
              </a:xfrm>
              <a:prstGeom prst="roundRect">
                <a:avLst>
                  <a:gd name="adj" fmla="val 22222"/>
                </a:avLst>
              </a:prstGeom>
              <a:solidFill>
                <a:srgbClr val="D9A8A3"/>
              </a:solidFill>
            </p:spPr>
          </p:sp>
          <p:sp>
            <p:nvSpPr>
              <p:cNvPr id="53" name="Text 19"/>
              <p:cNvSpPr/>
              <p:nvPr/>
            </p:nvSpPr>
            <p:spPr>
              <a:xfrm>
                <a:off x="8965" y="2886"/>
                <a:ext cx="547" cy="230"/>
              </a:xfrm>
              <a:prstGeom prst="rect">
                <a:avLst/>
              </a:prstGeom>
              <a:noFill/>
            </p:spPr>
            <p:txBody>
              <a:bodyPr wrap="square" rtlCol="0" anchor="ctr"/>
              <a:p>
                <a:pPr marL="0" indent="0" algn="ctr">
                  <a:buNone/>
                </a:pPr>
                <a:r>
                  <a:rPr 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P2</a:t>
                </a:r>
                <a:endParaRPr lang="en-US" sz="700" dirty="0"/>
              </a:p>
            </p:txBody>
          </p:sp>
        </p:grpSp>
        <p:grpSp>
          <p:nvGrpSpPr>
            <p:cNvPr id="54" name="组合 53"/>
            <p:cNvGrpSpPr/>
            <p:nvPr userDrawn="1"/>
          </p:nvGrpSpPr>
          <p:grpSpPr>
            <a:xfrm rot="0">
              <a:off x="8330" y="2775"/>
              <a:ext cx="547" cy="259"/>
              <a:chOff x="8957" y="2599"/>
              <a:chExt cx="547" cy="259"/>
            </a:xfrm>
          </p:grpSpPr>
          <p:sp>
            <p:nvSpPr>
              <p:cNvPr id="55" name="Shape 15"/>
              <p:cNvSpPr/>
              <p:nvPr/>
            </p:nvSpPr>
            <p:spPr>
              <a:xfrm>
                <a:off x="8957" y="2599"/>
                <a:ext cx="547" cy="259"/>
              </a:xfrm>
              <a:prstGeom prst="roundRect">
                <a:avLst>
                  <a:gd name="adj" fmla="val 22222"/>
                </a:avLst>
              </a:prstGeom>
              <a:solidFill>
                <a:srgbClr val="6A2B3A"/>
              </a:solidFill>
            </p:spPr>
          </p:sp>
          <p:sp>
            <p:nvSpPr>
              <p:cNvPr id="56" name="Text 16"/>
              <p:cNvSpPr/>
              <p:nvPr/>
            </p:nvSpPr>
            <p:spPr>
              <a:xfrm>
                <a:off x="8957" y="2628"/>
                <a:ext cx="547" cy="230"/>
              </a:xfrm>
              <a:prstGeom prst="rect">
                <a:avLst/>
              </a:prstGeom>
              <a:noFill/>
            </p:spPr>
            <p:txBody>
              <a:bodyPr wrap="square" rtlCol="0" anchor="ctr"/>
              <a:p>
                <a:pPr marL="0" indent="0" algn="ctr">
                  <a:buNone/>
                </a:pPr>
                <a:r>
                  <a:rPr 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P0</a:t>
                </a:r>
                <a:endParaRPr lang="en-US" sz="700" dirty="0"/>
              </a:p>
            </p:txBody>
          </p:sp>
        </p:grpSp>
      </p:grpSp>
      <p:grpSp>
        <p:nvGrpSpPr>
          <p:cNvPr id="86" name="组合 85"/>
          <p:cNvGrpSpPr/>
          <p:nvPr userDrawn="1"/>
        </p:nvGrpSpPr>
        <p:grpSpPr>
          <a:xfrm>
            <a:off x="5684520" y="2228215"/>
            <a:ext cx="2891790" cy="193040"/>
            <a:chOff x="8952" y="3509"/>
            <a:chExt cx="4554" cy="304"/>
          </a:xfrm>
        </p:grpSpPr>
        <p:sp>
          <p:nvSpPr>
            <p:cNvPr id="21" name="Text 19"/>
            <p:cNvSpPr/>
            <p:nvPr/>
          </p:nvSpPr>
          <p:spPr>
            <a:xfrm>
              <a:off x="9590" y="3541"/>
              <a:ext cx="3917" cy="274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 defTabSz="0" rtl="0" eaLnBrk="1" latinLnBrk="0" hangingPunct="1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sz="800" b="1" dirty="0">
                  <a:solidFill>
                    <a:srgbClr val="3B3538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Easy to Use </a:t>
              </a:r>
              <a:r>
                <a:rPr lang="en-US" sz="800" dirty="0">
                  <a:solidFill>
                    <a:srgbClr val="3B3538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with One-Press Assembly and Only 5 Parts to Clean.</a:t>
              </a:r>
              <a:endParaRPr lang="en-US" sz="80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7" name="组合 66"/>
            <p:cNvGrpSpPr/>
            <p:nvPr userDrawn="1"/>
          </p:nvGrpSpPr>
          <p:grpSpPr>
            <a:xfrm rot="0">
              <a:off x="8952" y="3509"/>
              <a:ext cx="556" cy="259"/>
              <a:chOff x="8957" y="2866"/>
              <a:chExt cx="555" cy="259"/>
            </a:xfrm>
          </p:grpSpPr>
          <p:sp>
            <p:nvSpPr>
              <p:cNvPr id="68" name="Shape 18"/>
              <p:cNvSpPr/>
              <p:nvPr/>
            </p:nvSpPr>
            <p:spPr>
              <a:xfrm>
                <a:off x="8957" y="2866"/>
                <a:ext cx="547" cy="259"/>
              </a:xfrm>
              <a:prstGeom prst="roundRect">
                <a:avLst>
                  <a:gd name="adj" fmla="val 22222"/>
                </a:avLst>
              </a:prstGeom>
              <a:solidFill>
                <a:srgbClr val="D9A8A3"/>
              </a:solidFill>
            </p:spPr>
          </p:sp>
          <p:sp>
            <p:nvSpPr>
              <p:cNvPr id="69" name="Text 19"/>
              <p:cNvSpPr/>
              <p:nvPr/>
            </p:nvSpPr>
            <p:spPr>
              <a:xfrm>
                <a:off x="8965" y="2886"/>
                <a:ext cx="547" cy="230"/>
              </a:xfrm>
              <a:prstGeom prst="rect">
                <a:avLst/>
              </a:prstGeom>
              <a:noFill/>
            </p:spPr>
            <p:txBody>
              <a:bodyPr wrap="square" rtlCol="0" anchor="ctr"/>
              <a:p>
                <a:pPr marL="0" indent="0" algn="ctr">
                  <a:buNone/>
                </a:pPr>
                <a:r>
                  <a:rPr 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P2</a:t>
                </a:r>
                <a:endParaRPr lang="en-US" sz="700" dirty="0"/>
              </a:p>
            </p:txBody>
          </p:sp>
        </p:grpSp>
      </p:grpSp>
      <p:grpSp>
        <p:nvGrpSpPr>
          <p:cNvPr id="88" name="组合 87"/>
          <p:cNvGrpSpPr/>
          <p:nvPr userDrawn="1"/>
        </p:nvGrpSpPr>
        <p:grpSpPr>
          <a:xfrm>
            <a:off x="5699443" y="3334544"/>
            <a:ext cx="2844165" cy="647700"/>
            <a:chOff x="8323" y="4501"/>
            <a:chExt cx="4479" cy="1020"/>
          </a:xfrm>
        </p:grpSpPr>
        <p:grpSp>
          <p:nvGrpSpPr>
            <p:cNvPr id="81" name="组合 80"/>
            <p:cNvGrpSpPr/>
            <p:nvPr userDrawn="1"/>
          </p:nvGrpSpPr>
          <p:grpSpPr>
            <a:xfrm>
              <a:off x="8323" y="4501"/>
              <a:ext cx="4479" cy="272"/>
              <a:chOff x="8323" y="4501"/>
              <a:chExt cx="4479" cy="272"/>
            </a:xfrm>
          </p:grpSpPr>
          <p:sp>
            <p:nvSpPr>
              <p:cNvPr id="70" name="Text 34"/>
              <p:cNvSpPr/>
              <p:nvPr/>
            </p:nvSpPr>
            <p:spPr>
              <a:xfrm>
                <a:off x="8886" y="4501"/>
                <a:ext cx="3917" cy="274"/>
              </a:xfrm>
              <a:prstGeom prst="rect">
                <a:avLst/>
              </a:prstGeom>
              <a:noFill/>
            </p:spPr>
            <p:txBody>
              <a:bodyPr wrap="square" rtlCol="0" anchor="ctr"/>
              <a:p>
                <a:pPr marL="0" indent="0">
                  <a:buNone/>
                </a:pPr>
                <a:r>
                  <a:rPr lang="en-US" sz="800" b="1" dirty="0">
                    <a:solidFill>
                      <a:srgbClr val="3B3538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Full-Surface Warmth.</a:t>
                </a:r>
                <a:endParaRPr lang="en-US" sz="800" b="1" dirty="0">
                  <a:solidFill>
                    <a:srgbClr val="3B3538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71" name="组合 70"/>
              <p:cNvGrpSpPr/>
              <p:nvPr userDrawn="1"/>
            </p:nvGrpSpPr>
            <p:grpSpPr>
              <a:xfrm rot="0">
                <a:off x="8323" y="4508"/>
                <a:ext cx="547" cy="259"/>
                <a:chOff x="8957" y="2599"/>
                <a:chExt cx="547" cy="259"/>
              </a:xfrm>
            </p:grpSpPr>
            <p:sp>
              <p:nvSpPr>
                <p:cNvPr id="72" name="Shape 15"/>
                <p:cNvSpPr/>
                <p:nvPr/>
              </p:nvSpPr>
              <p:spPr>
                <a:xfrm>
                  <a:off x="8957" y="2599"/>
                  <a:ext cx="547" cy="259"/>
                </a:xfrm>
                <a:prstGeom prst="roundRect">
                  <a:avLst>
                    <a:gd name="adj" fmla="val 22222"/>
                  </a:avLst>
                </a:prstGeom>
                <a:solidFill>
                  <a:srgbClr val="6A2B3A"/>
                </a:solidFill>
              </p:spPr>
            </p:sp>
            <p:sp>
              <p:nvSpPr>
                <p:cNvPr id="73" name="Text 16"/>
                <p:cNvSpPr/>
                <p:nvPr/>
              </p:nvSpPr>
              <p:spPr>
                <a:xfrm>
                  <a:off x="8957" y="2628"/>
                  <a:ext cx="547" cy="230"/>
                </a:xfrm>
                <a:prstGeom prst="rect">
                  <a:avLst/>
                </a:prstGeom>
                <a:noFill/>
              </p:spPr>
              <p:txBody>
                <a:bodyPr wrap="square" rtlCol="0" anchor="ctr"/>
                <a:p>
                  <a:pPr marL="0" indent="0" algn="ctr">
                    <a:buNone/>
                  </a:pPr>
                  <a:r>
                    <a:rPr lang="en-US" sz="700" b="1" dirty="0">
                      <a:solidFill>
                        <a:srgbClr val="FFFFFF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</a:rPr>
                    <a:t>P0</a:t>
                  </a:r>
                  <a:endParaRPr lang="en-US" sz="700" dirty="0"/>
                </a:p>
              </p:txBody>
            </p:sp>
          </p:grpSp>
        </p:grpSp>
        <p:grpSp>
          <p:nvGrpSpPr>
            <p:cNvPr id="74" name="组合 73"/>
            <p:cNvGrpSpPr/>
            <p:nvPr userDrawn="1"/>
          </p:nvGrpSpPr>
          <p:grpSpPr>
            <a:xfrm rot="0">
              <a:off x="8330" y="5263"/>
              <a:ext cx="547" cy="259"/>
              <a:chOff x="8957" y="5003"/>
              <a:chExt cx="547" cy="259"/>
            </a:xfrm>
          </p:grpSpPr>
          <p:sp>
            <p:nvSpPr>
              <p:cNvPr id="75" name="Shape 38"/>
              <p:cNvSpPr/>
              <p:nvPr/>
            </p:nvSpPr>
            <p:spPr>
              <a:xfrm>
                <a:off x="8957" y="5003"/>
                <a:ext cx="547" cy="259"/>
              </a:xfrm>
              <a:prstGeom prst="roundRect">
                <a:avLst>
                  <a:gd name="adj" fmla="val 22222"/>
                </a:avLst>
              </a:prstGeom>
              <a:solidFill>
                <a:srgbClr val="B27A7E"/>
              </a:solidFill>
            </p:spPr>
          </p:sp>
          <p:sp>
            <p:nvSpPr>
              <p:cNvPr id="76" name="Text 39"/>
              <p:cNvSpPr/>
              <p:nvPr/>
            </p:nvSpPr>
            <p:spPr>
              <a:xfrm>
                <a:off x="8957" y="5017"/>
                <a:ext cx="547" cy="230"/>
              </a:xfrm>
              <a:prstGeom prst="rect">
                <a:avLst/>
              </a:prstGeom>
              <a:noFill/>
            </p:spPr>
            <p:txBody>
              <a:bodyPr wrap="square" rtlCol="0" anchor="ctr"/>
              <a:p>
                <a:pPr marL="0" indent="0" algn="ctr">
                  <a:buNone/>
                </a:pPr>
                <a:r>
                  <a:rPr 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P1</a:t>
                </a:r>
                <a:endParaRPr lang="en-US" sz="700" dirty="0"/>
              </a:p>
            </p:txBody>
          </p:sp>
        </p:grpSp>
        <p:grpSp>
          <p:nvGrpSpPr>
            <p:cNvPr id="82" name="组合 81"/>
            <p:cNvGrpSpPr/>
            <p:nvPr userDrawn="1"/>
          </p:nvGrpSpPr>
          <p:grpSpPr>
            <a:xfrm>
              <a:off x="8330" y="4855"/>
              <a:ext cx="4472" cy="274"/>
              <a:chOff x="8330" y="4855"/>
              <a:chExt cx="4472" cy="274"/>
            </a:xfrm>
          </p:grpSpPr>
          <p:sp>
            <p:nvSpPr>
              <p:cNvPr id="77" name="Text 37"/>
              <p:cNvSpPr/>
              <p:nvPr/>
            </p:nvSpPr>
            <p:spPr>
              <a:xfrm>
                <a:off x="8886" y="4855"/>
                <a:ext cx="3917" cy="274"/>
              </a:xfrm>
              <a:prstGeom prst="rect">
                <a:avLst/>
              </a:prstGeom>
              <a:noFill/>
            </p:spPr>
            <p:txBody>
              <a:bodyPr wrap="square" rtlCol="0" anchor="ctr"/>
              <a:p>
                <a:pPr marL="0" indent="0">
                  <a:buNone/>
                </a:pPr>
                <a:r>
                  <a:rPr lang="en-US" sz="800" b="1" dirty="0">
                    <a:solidFill>
                      <a:srgbClr val="3B3538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5-Zone Suction-Synced Massage.</a:t>
                </a:r>
                <a:endParaRPr lang="en-US" sz="800" b="1" dirty="0">
                  <a:solidFill>
                    <a:srgbClr val="3B3538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78" name="组合 77"/>
              <p:cNvGrpSpPr/>
              <p:nvPr userDrawn="1"/>
            </p:nvGrpSpPr>
            <p:grpSpPr>
              <a:xfrm rot="0">
                <a:off x="8330" y="4862"/>
                <a:ext cx="547" cy="259"/>
                <a:chOff x="8957" y="2599"/>
                <a:chExt cx="547" cy="259"/>
              </a:xfrm>
            </p:grpSpPr>
            <p:sp>
              <p:nvSpPr>
                <p:cNvPr id="79" name="Shape 15"/>
                <p:cNvSpPr/>
                <p:nvPr/>
              </p:nvSpPr>
              <p:spPr>
                <a:xfrm>
                  <a:off x="8957" y="2599"/>
                  <a:ext cx="547" cy="259"/>
                </a:xfrm>
                <a:prstGeom prst="roundRect">
                  <a:avLst>
                    <a:gd name="adj" fmla="val 22222"/>
                  </a:avLst>
                </a:prstGeom>
                <a:solidFill>
                  <a:srgbClr val="6A2B3A"/>
                </a:solidFill>
              </p:spPr>
            </p:sp>
            <p:sp>
              <p:nvSpPr>
                <p:cNvPr id="80" name="Text 16"/>
                <p:cNvSpPr/>
                <p:nvPr/>
              </p:nvSpPr>
              <p:spPr>
                <a:xfrm>
                  <a:off x="8957" y="2628"/>
                  <a:ext cx="547" cy="230"/>
                </a:xfrm>
                <a:prstGeom prst="rect">
                  <a:avLst/>
                </a:prstGeom>
                <a:noFill/>
              </p:spPr>
              <p:txBody>
                <a:bodyPr wrap="square" rtlCol="0" anchor="ctr"/>
                <a:p>
                  <a:pPr marL="0" indent="0" algn="ctr">
                    <a:buNone/>
                  </a:pPr>
                  <a:r>
                    <a:rPr lang="en-US" sz="700" b="1" dirty="0">
                      <a:solidFill>
                        <a:srgbClr val="FFFFFF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</a:rPr>
                    <a:t>P0</a:t>
                  </a:r>
                  <a:endParaRPr lang="en-US" sz="700" dirty="0"/>
                </a:p>
              </p:txBody>
            </p:sp>
          </p:grpSp>
        </p:grpSp>
      </p:grpSp>
      <p:sp>
        <p:nvSpPr>
          <p:cNvPr id="84" name="文本框 83"/>
          <p:cNvSpPr txBox="1"/>
          <p:nvPr/>
        </p:nvSpPr>
        <p:spPr>
          <a:xfrm>
            <a:off x="6056948" y="3795871"/>
            <a:ext cx="7315200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 defTabSz="0" rtl="0" eaLnBrk="1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80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DoubleFit™ Soft Dual-Layer Flange.</a:t>
            </a:r>
            <a:endParaRPr lang="en-US" sz="800" b="1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Text 19"/>
          <p:cNvSpPr/>
          <p:nvPr/>
        </p:nvSpPr>
        <p:spPr>
          <a:xfrm>
            <a:off x="5816847" y="2367915"/>
            <a:ext cx="347971" cy="14605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P2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Text 1"/>
          <p:cNvSpPr/>
          <p:nvPr/>
        </p:nvSpPr>
        <p:spPr>
          <a:xfrm>
            <a:off x="502920" y="237744"/>
            <a:ext cx="8138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VIDEO TOPICS — DETAIL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Topics 07–08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850392"/>
            <a:ext cx="8138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Scenario on the left, the key messages to carry on the right.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25296"/>
            <a:ext cx="8138160" cy="1527048"/>
          </a:xfrm>
          <a:prstGeom prst="roundRect">
            <a:avLst>
              <a:gd name="adj" fmla="val 2994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25296"/>
            <a:ext cx="45720" cy="1527048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8" name="Text 6"/>
          <p:cNvSpPr/>
          <p:nvPr/>
        </p:nvSpPr>
        <p:spPr>
          <a:xfrm>
            <a:off x="630936" y="1307592"/>
            <a:ext cx="310896" cy="201168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96696" y="1298448"/>
            <a:ext cx="4754880" cy="2377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Pumping when several family needs overlap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96696" y="1536192"/>
            <a:ext cx="4754880" cy="2011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“What I Use When Both Kids Need Me and I Still Have to Pump”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96696" y="1737360"/>
            <a:ext cx="4754880" cy="37124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Show the reality of pumping as a mom of multiple children, while highlighting wearability, app control and easier routine management.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577840" y="1316736"/>
            <a:ext cx="7315" cy="1344168"/>
          </a:xfrm>
          <a:prstGeom prst="rect">
            <a:avLst/>
          </a:prstGeom>
          <a:solidFill>
            <a:srgbClr val="EAD8D4"/>
          </a:solidFill>
        </p:spPr>
      </p:sp>
      <p:sp>
        <p:nvSpPr>
          <p:cNvPr id="13" name="Text 11"/>
          <p:cNvSpPr/>
          <p:nvPr/>
        </p:nvSpPr>
        <p:spPr>
          <a:xfrm>
            <a:off x="5687568" y="1298448"/>
            <a:ext cx="237744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MESSAGES</a:t>
            </a:r>
            <a:endParaRPr lang="en-US" sz="750" dirty="0"/>
          </a:p>
        </p:txBody>
      </p:sp>
      <p:grpSp>
        <p:nvGrpSpPr>
          <p:cNvPr id="83" name="组合 82"/>
          <p:cNvGrpSpPr/>
          <p:nvPr userDrawn="1"/>
        </p:nvGrpSpPr>
        <p:grpSpPr>
          <a:xfrm>
            <a:off x="5750544" y="2331655"/>
            <a:ext cx="2834657" cy="181335"/>
            <a:chOff x="9056" y="3672"/>
            <a:chExt cx="4464" cy="286"/>
          </a:xfrm>
        </p:grpSpPr>
        <p:grpSp>
          <p:nvGrpSpPr>
            <p:cNvPr id="51" name="组合 50"/>
            <p:cNvGrpSpPr/>
            <p:nvPr userDrawn="1"/>
          </p:nvGrpSpPr>
          <p:grpSpPr>
            <a:xfrm>
              <a:off x="9056" y="3672"/>
              <a:ext cx="556" cy="259"/>
              <a:chOff x="8957" y="2580"/>
              <a:chExt cx="556" cy="259"/>
            </a:xfrm>
          </p:grpSpPr>
          <p:sp>
            <p:nvSpPr>
              <p:cNvPr id="17" name="Shape 15"/>
              <p:cNvSpPr/>
              <p:nvPr/>
            </p:nvSpPr>
            <p:spPr>
              <a:xfrm>
                <a:off x="8957" y="2580"/>
                <a:ext cx="547" cy="259"/>
              </a:xfrm>
              <a:prstGeom prst="roundRect">
                <a:avLst>
                  <a:gd name="adj" fmla="val 22222"/>
                </a:avLst>
              </a:prstGeom>
              <a:solidFill>
                <a:srgbClr val="B27A7E"/>
              </a:solidFill>
            </p:spPr>
          </p:sp>
          <p:sp>
            <p:nvSpPr>
              <p:cNvPr id="18" name="Text 16"/>
              <p:cNvSpPr/>
              <p:nvPr/>
            </p:nvSpPr>
            <p:spPr>
              <a:xfrm>
                <a:off x="8966" y="2592"/>
                <a:ext cx="547" cy="230"/>
              </a:xfrm>
              <a:prstGeom prst="rect">
                <a:avLst/>
              </a:prstGeom>
              <a:noFill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P1</a:t>
                </a:r>
                <a:endParaRPr lang="en-US" sz="700" dirty="0"/>
              </a:p>
            </p:txBody>
          </p:sp>
        </p:grpSp>
        <p:sp>
          <p:nvSpPr>
            <p:cNvPr id="22" name="Text 20"/>
            <p:cNvSpPr/>
            <p:nvPr/>
          </p:nvSpPr>
          <p:spPr>
            <a:xfrm>
              <a:off x="9603" y="3684"/>
              <a:ext cx="3917" cy="274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b="1" dirty="0"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Smart App Control</a:t>
              </a:r>
              <a:r>
                <a:rPr lang="en-US" altLang="zh-CN" sz="800" dirty="0"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: </a:t>
              </a:r>
              <a:r>
                <a:rPr lang="en-US" sz="800" dirty="0"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manage every session from your phone. </a:t>
              </a:r>
              <a:endParaRPr lang="en-US" sz="8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" name="Text 21"/>
          <p:cNvSpPr/>
          <p:nvPr/>
        </p:nvSpPr>
        <p:spPr>
          <a:xfrm>
            <a:off x="5683608" y="2569485"/>
            <a:ext cx="2889504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Format:  </a:t>
            </a:r>
            <a:r>
              <a:rPr lang="en-US" sz="75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Real-situation short video with voice-over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02920" y="2862072"/>
            <a:ext cx="8138160" cy="1527048"/>
          </a:xfrm>
          <a:prstGeom prst="roundRect">
            <a:avLst>
              <a:gd name="adj" fmla="val 2994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2862072"/>
            <a:ext cx="45720" cy="1527048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26" name="Text 24"/>
          <p:cNvSpPr/>
          <p:nvPr/>
        </p:nvSpPr>
        <p:spPr>
          <a:xfrm>
            <a:off x="630936" y="2944368"/>
            <a:ext cx="310896" cy="201168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96696" y="2935224"/>
            <a:ext cx="4754880" cy="2377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Reviewing the complete routine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96696" y="3172968"/>
            <a:ext cx="4754880" cy="2011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“Wear, Pump, Pour and Clean: My Honest W</a:t>
            </a:r>
            <a:r>
              <a:rPr lang="en-US" altLang="zh-CN" sz="900" i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ellness </a:t>
            </a:r>
            <a:r>
              <a:rPr lang="en-US" sz="900" i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Review”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96696" y="3374136"/>
            <a:ext cx="4754880" cy="37124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Help viewers understand the complete experience rather than focusing on a single product feature.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577840" y="2953512"/>
            <a:ext cx="7315" cy="1344168"/>
          </a:xfrm>
          <a:prstGeom prst="rect">
            <a:avLst/>
          </a:prstGeom>
          <a:solidFill>
            <a:srgbClr val="EAD8D4"/>
          </a:solidFill>
        </p:spPr>
      </p:sp>
      <p:sp>
        <p:nvSpPr>
          <p:cNvPr id="31" name="Text 29"/>
          <p:cNvSpPr/>
          <p:nvPr/>
        </p:nvSpPr>
        <p:spPr>
          <a:xfrm>
            <a:off x="5687568" y="2935224"/>
            <a:ext cx="237744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MESSAGES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089643" y="3873088"/>
            <a:ext cx="2414130" cy="16462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Transparent Top &amp; 6 oz Collector</a:t>
            </a:r>
            <a:r>
              <a:rPr lang="en-US" altLang="zh-CN" sz="80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.</a:t>
            </a:r>
            <a:endParaRPr lang="en-US" sz="800" b="1" dirty="0"/>
          </a:p>
        </p:txBody>
      </p:sp>
      <p:sp>
        <p:nvSpPr>
          <p:cNvPr id="41" name="Text 39"/>
          <p:cNvSpPr/>
          <p:nvPr/>
        </p:nvSpPr>
        <p:spPr>
          <a:xfrm>
            <a:off x="996720" y="3809388"/>
            <a:ext cx="2889504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Format:  </a:t>
            </a:r>
            <a:r>
              <a:rPr lang="en-US" sz="75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Step-by-step review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8183880" y="4777740"/>
            <a:ext cx="457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</a:t>
            </a:r>
            <a:endParaRPr lang="en-US" sz="900" dirty="0"/>
          </a:p>
        </p:txBody>
      </p:sp>
      <p:grpSp>
        <p:nvGrpSpPr>
          <p:cNvPr id="76" name="组合 75"/>
          <p:cNvGrpSpPr/>
          <p:nvPr userDrawn="1"/>
        </p:nvGrpSpPr>
        <p:grpSpPr>
          <a:xfrm>
            <a:off x="5750560" y="2020570"/>
            <a:ext cx="2825750" cy="172720"/>
            <a:chOff x="9056" y="3182"/>
            <a:chExt cx="4450" cy="272"/>
          </a:xfrm>
        </p:grpSpPr>
        <p:grpSp>
          <p:nvGrpSpPr>
            <p:cNvPr id="50" name="组合 49"/>
            <p:cNvGrpSpPr/>
            <p:nvPr userDrawn="1"/>
          </p:nvGrpSpPr>
          <p:grpSpPr>
            <a:xfrm rot="0">
              <a:off x="9056" y="3191"/>
              <a:ext cx="547" cy="259"/>
              <a:chOff x="8957" y="2866"/>
              <a:chExt cx="547" cy="259"/>
            </a:xfrm>
          </p:grpSpPr>
          <p:sp>
            <p:nvSpPr>
              <p:cNvPr id="20" name="Shape 18"/>
              <p:cNvSpPr/>
              <p:nvPr/>
            </p:nvSpPr>
            <p:spPr>
              <a:xfrm>
                <a:off x="8957" y="2866"/>
                <a:ext cx="547" cy="259"/>
              </a:xfrm>
              <a:prstGeom prst="roundRect">
                <a:avLst>
                  <a:gd name="adj" fmla="val 22222"/>
                </a:avLst>
              </a:prstGeom>
              <a:solidFill>
                <a:srgbClr val="D9A8A3"/>
              </a:solidFill>
            </p:spPr>
          </p:sp>
          <p:sp>
            <p:nvSpPr>
              <p:cNvPr id="21" name="Text 19"/>
              <p:cNvSpPr/>
              <p:nvPr/>
            </p:nvSpPr>
            <p:spPr>
              <a:xfrm>
                <a:off x="8957" y="2894"/>
                <a:ext cx="547" cy="230"/>
              </a:xfrm>
              <a:prstGeom prst="rect">
                <a:avLst/>
              </a:prstGeom>
              <a:noFill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P2</a:t>
                </a:r>
                <a:endParaRPr lang="en-US" sz="700" dirty="0"/>
              </a:p>
            </p:txBody>
          </p:sp>
        </p:grpSp>
        <p:sp>
          <p:nvSpPr>
            <p:cNvPr id="45" name="Text 35"/>
            <p:cNvSpPr/>
            <p:nvPr/>
          </p:nvSpPr>
          <p:spPr>
            <a:xfrm>
              <a:off x="9590" y="3182"/>
              <a:ext cx="3917" cy="273"/>
            </a:xfrm>
            <a:prstGeom prst="rect">
              <a:avLst/>
            </a:prstGeom>
            <a:noFill/>
          </p:spPr>
          <p:txBody>
            <a:bodyPr wrap="square" rtlCol="0" anchor="ctr"/>
            <a:p>
              <a:pPr marL="0" indent="0">
                <a:buNone/>
              </a:pPr>
              <a:r>
                <a:rPr lang="en-US" sz="800" b="1" dirty="0"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Easy to Use</a:t>
              </a:r>
              <a:r>
                <a:rPr lang="en-US" sz="800" dirty="0"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 with One-Press Assembly and Only 5 Parts to Clean.</a:t>
              </a:r>
              <a:endParaRPr lang="en-US" sz="8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4" name="组合 93"/>
          <p:cNvGrpSpPr/>
          <p:nvPr userDrawn="1"/>
        </p:nvGrpSpPr>
        <p:grpSpPr>
          <a:xfrm>
            <a:off x="5750560" y="1518920"/>
            <a:ext cx="3351530" cy="406400"/>
            <a:chOff x="9056" y="2392"/>
            <a:chExt cx="5278" cy="640"/>
          </a:xfrm>
        </p:grpSpPr>
        <p:grpSp>
          <p:nvGrpSpPr>
            <p:cNvPr id="52" name="组合 51"/>
            <p:cNvGrpSpPr/>
            <p:nvPr userDrawn="1"/>
          </p:nvGrpSpPr>
          <p:grpSpPr>
            <a:xfrm>
              <a:off x="9056" y="2392"/>
              <a:ext cx="4479" cy="272"/>
              <a:chOff x="8323" y="4501"/>
              <a:chExt cx="4479" cy="272"/>
            </a:xfrm>
          </p:grpSpPr>
          <p:sp>
            <p:nvSpPr>
              <p:cNvPr id="53" name="Text 34"/>
              <p:cNvSpPr/>
              <p:nvPr/>
            </p:nvSpPr>
            <p:spPr>
              <a:xfrm>
                <a:off x="8886" y="4501"/>
                <a:ext cx="3917" cy="274"/>
              </a:xfrm>
              <a:prstGeom prst="rect">
                <a:avLst/>
              </a:prstGeom>
              <a:noFill/>
            </p:spPr>
            <p:txBody>
              <a:bodyPr wrap="square" rtlCol="0" anchor="ctr"/>
              <a:p>
                <a:pPr marL="0" indent="0">
                  <a:buNone/>
                </a:pPr>
                <a:r>
                  <a:rPr lang="en-US" sz="800" b="1" dirty="0">
                    <a:solidFill>
                      <a:srgbClr val="3B3538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Full-Surface Warmth</a:t>
                </a:r>
                <a:r>
                  <a:rPr lang="en-US" altLang="zh-CN" sz="800" b="1" dirty="0">
                    <a:solidFill>
                      <a:srgbClr val="3B3538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n-US" sz="800" b="1" dirty="0">
                  <a:solidFill>
                    <a:srgbClr val="3B3538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4" name="组合 53"/>
              <p:cNvGrpSpPr/>
              <p:nvPr userDrawn="1"/>
            </p:nvGrpSpPr>
            <p:grpSpPr>
              <a:xfrm rot="0">
                <a:off x="8323" y="4508"/>
                <a:ext cx="547" cy="259"/>
                <a:chOff x="8957" y="2599"/>
                <a:chExt cx="547" cy="259"/>
              </a:xfrm>
            </p:grpSpPr>
            <p:sp>
              <p:nvSpPr>
                <p:cNvPr id="55" name="Shape 15"/>
                <p:cNvSpPr/>
                <p:nvPr/>
              </p:nvSpPr>
              <p:spPr>
                <a:xfrm>
                  <a:off x="8957" y="2599"/>
                  <a:ext cx="547" cy="259"/>
                </a:xfrm>
                <a:prstGeom prst="roundRect">
                  <a:avLst>
                    <a:gd name="adj" fmla="val 22222"/>
                  </a:avLst>
                </a:prstGeom>
                <a:solidFill>
                  <a:srgbClr val="6A2B3A"/>
                </a:solidFill>
              </p:spPr>
            </p:sp>
            <p:sp>
              <p:nvSpPr>
                <p:cNvPr id="56" name="Text 16"/>
                <p:cNvSpPr/>
                <p:nvPr/>
              </p:nvSpPr>
              <p:spPr>
                <a:xfrm>
                  <a:off x="8957" y="2628"/>
                  <a:ext cx="547" cy="230"/>
                </a:xfrm>
                <a:prstGeom prst="rect">
                  <a:avLst/>
                </a:prstGeom>
                <a:noFill/>
              </p:spPr>
              <p:txBody>
                <a:bodyPr wrap="square" rtlCol="0" anchor="ctr"/>
                <a:p>
                  <a:pPr marL="0" indent="0" algn="ctr">
                    <a:buNone/>
                  </a:pPr>
                  <a:r>
                    <a:rPr lang="en-US" sz="700" b="1" dirty="0">
                      <a:solidFill>
                        <a:srgbClr val="FFFFFF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</a:rPr>
                    <a:t>P0</a:t>
                  </a:r>
                  <a:endParaRPr lang="en-US" sz="700" dirty="0"/>
                </a:p>
              </p:txBody>
            </p:sp>
          </p:grpSp>
        </p:grpSp>
        <p:grpSp>
          <p:nvGrpSpPr>
            <p:cNvPr id="87" name="组合 86"/>
            <p:cNvGrpSpPr/>
            <p:nvPr userDrawn="1"/>
          </p:nvGrpSpPr>
          <p:grpSpPr>
            <a:xfrm>
              <a:off x="9056" y="2754"/>
              <a:ext cx="5278" cy="278"/>
              <a:chOff x="8330" y="2756"/>
              <a:chExt cx="5278" cy="278"/>
            </a:xfrm>
          </p:grpSpPr>
          <p:sp>
            <p:nvSpPr>
              <p:cNvPr id="58" name="Text 17"/>
              <p:cNvSpPr/>
              <p:nvPr/>
            </p:nvSpPr>
            <p:spPr>
              <a:xfrm>
                <a:off x="8877" y="2756"/>
                <a:ext cx="4731" cy="274"/>
              </a:xfrm>
              <a:prstGeom prst="rect">
                <a:avLst/>
              </a:prstGeom>
              <a:noFill/>
            </p:spPr>
            <p:txBody>
              <a:bodyPr wrap="square" rtlCol="0" anchor="ctr"/>
              <a:p>
                <a:pPr marL="0" indent="0">
                  <a:buNone/>
                </a:pPr>
                <a:r>
                  <a:rPr lang="en-US" sz="800" b="1" dirty="0">
                    <a:solidFill>
                      <a:srgbClr val="3B3538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5-Zone Suction-Synced Massage</a:t>
                </a:r>
                <a:r>
                  <a:rPr lang="en-US" altLang="zh-CN" sz="800" b="1" dirty="0">
                    <a:solidFill>
                      <a:srgbClr val="3B3538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n-US" sz="800" b="1" dirty="0">
                  <a:solidFill>
                    <a:srgbClr val="3B3538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2" name="组合 61"/>
              <p:cNvGrpSpPr/>
              <p:nvPr userDrawn="1"/>
            </p:nvGrpSpPr>
            <p:grpSpPr>
              <a:xfrm rot="0">
                <a:off x="8330" y="2775"/>
                <a:ext cx="547" cy="259"/>
                <a:chOff x="8957" y="2599"/>
                <a:chExt cx="547" cy="259"/>
              </a:xfrm>
            </p:grpSpPr>
            <p:sp>
              <p:nvSpPr>
                <p:cNvPr id="63" name="Shape 15"/>
                <p:cNvSpPr/>
                <p:nvPr/>
              </p:nvSpPr>
              <p:spPr>
                <a:xfrm>
                  <a:off x="8957" y="2599"/>
                  <a:ext cx="547" cy="259"/>
                </a:xfrm>
                <a:prstGeom prst="roundRect">
                  <a:avLst>
                    <a:gd name="adj" fmla="val 22222"/>
                  </a:avLst>
                </a:prstGeom>
                <a:solidFill>
                  <a:srgbClr val="6A2B3A"/>
                </a:solidFill>
              </p:spPr>
            </p:sp>
            <p:sp>
              <p:nvSpPr>
                <p:cNvPr id="64" name="Text 16"/>
                <p:cNvSpPr/>
                <p:nvPr/>
              </p:nvSpPr>
              <p:spPr>
                <a:xfrm>
                  <a:off x="8957" y="2628"/>
                  <a:ext cx="547" cy="230"/>
                </a:xfrm>
                <a:prstGeom prst="rect">
                  <a:avLst/>
                </a:prstGeom>
                <a:noFill/>
              </p:spPr>
              <p:txBody>
                <a:bodyPr wrap="square" rtlCol="0" anchor="ctr"/>
                <a:p>
                  <a:pPr marL="0" indent="0" algn="ctr">
                    <a:buNone/>
                  </a:pPr>
                  <a:r>
                    <a:rPr lang="en-US" sz="700" b="1" dirty="0">
                      <a:solidFill>
                        <a:srgbClr val="FFFFFF"/>
                      </a:solidFill>
                      <a:latin typeface="Arial" panose="020B0604020202020204" pitchFamily="34" charset="0"/>
                      <a:ea typeface="Arial" panose="020B0604020202020204" pitchFamily="34" charset="-122"/>
                      <a:cs typeface="Arial" panose="020B0604020202020204" pitchFamily="34" charset="-120"/>
                    </a:rPr>
                    <a:t>P0</a:t>
                  </a:r>
                  <a:endParaRPr lang="en-US" sz="700" dirty="0"/>
                </a:p>
              </p:txBody>
            </p:sp>
          </p:grpSp>
        </p:grpSp>
      </p:grpSp>
      <p:grpSp>
        <p:nvGrpSpPr>
          <p:cNvPr id="65" name="组合 64"/>
          <p:cNvGrpSpPr/>
          <p:nvPr userDrawn="1"/>
        </p:nvGrpSpPr>
        <p:grpSpPr>
          <a:xfrm>
            <a:off x="5746985" y="3155687"/>
            <a:ext cx="2844165" cy="172720"/>
            <a:chOff x="8323" y="4501"/>
            <a:chExt cx="4479" cy="272"/>
          </a:xfrm>
        </p:grpSpPr>
        <p:sp>
          <p:nvSpPr>
            <p:cNvPr id="66" name="Text 34"/>
            <p:cNvSpPr/>
            <p:nvPr/>
          </p:nvSpPr>
          <p:spPr>
            <a:xfrm>
              <a:off x="8886" y="4501"/>
              <a:ext cx="3917" cy="274"/>
            </a:xfrm>
            <a:prstGeom prst="rect">
              <a:avLst/>
            </a:prstGeom>
            <a:noFill/>
          </p:spPr>
          <p:txBody>
            <a:bodyPr wrap="square" rtlCol="0" anchor="ctr"/>
            <a:p>
              <a:pPr marL="0" indent="0">
                <a:buNone/>
              </a:pPr>
              <a:r>
                <a:rPr lang="en-US" sz="800" b="1" dirty="0">
                  <a:solidFill>
                    <a:srgbClr val="3B3538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Full-Surface Warmth</a:t>
              </a:r>
              <a:r>
                <a:rPr lang="en-US" altLang="zh-CN" sz="800" b="1" dirty="0">
                  <a:solidFill>
                    <a:srgbClr val="3B3538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en-US" sz="80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7" name="组合 66"/>
            <p:cNvGrpSpPr/>
            <p:nvPr userDrawn="1"/>
          </p:nvGrpSpPr>
          <p:grpSpPr>
            <a:xfrm rot="0">
              <a:off x="8323" y="4508"/>
              <a:ext cx="547" cy="259"/>
              <a:chOff x="8957" y="2599"/>
              <a:chExt cx="547" cy="259"/>
            </a:xfrm>
          </p:grpSpPr>
          <p:sp>
            <p:nvSpPr>
              <p:cNvPr id="68" name="Shape 15"/>
              <p:cNvSpPr/>
              <p:nvPr/>
            </p:nvSpPr>
            <p:spPr>
              <a:xfrm>
                <a:off x="8957" y="2599"/>
                <a:ext cx="547" cy="259"/>
              </a:xfrm>
              <a:prstGeom prst="roundRect">
                <a:avLst>
                  <a:gd name="adj" fmla="val 22222"/>
                </a:avLst>
              </a:prstGeom>
              <a:solidFill>
                <a:srgbClr val="6A2B3A"/>
              </a:solidFill>
            </p:spPr>
          </p:sp>
          <p:sp>
            <p:nvSpPr>
              <p:cNvPr id="69" name="Text 16"/>
              <p:cNvSpPr/>
              <p:nvPr/>
            </p:nvSpPr>
            <p:spPr>
              <a:xfrm>
                <a:off x="8957" y="2628"/>
                <a:ext cx="547" cy="230"/>
              </a:xfrm>
              <a:prstGeom prst="rect">
                <a:avLst/>
              </a:prstGeom>
              <a:noFill/>
            </p:spPr>
            <p:txBody>
              <a:bodyPr wrap="square" rtlCol="0" anchor="ctr"/>
              <a:p>
                <a:pPr marL="0" indent="0" algn="ctr">
                  <a:buNone/>
                </a:pPr>
                <a:r>
                  <a:rPr 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P0</a:t>
                </a:r>
                <a:endParaRPr lang="en-US" sz="700" dirty="0"/>
              </a:p>
            </p:txBody>
          </p:sp>
        </p:grpSp>
      </p:grpSp>
      <p:grpSp>
        <p:nvGrpSpPr>
          <p:cNvPr id="70" name="组合 69"/>
          <p:cNvGrpSpPr/>
          <p:nvPr userDrawn="1"/>
        </p:nvGrpSpPr>
        <p:grpSpPr>
          <a:xfrm>
            <a:off x="5742298" y="3374111"/>
            <a:ext cx="3351530" cy="176530"/>
            <a:chOff x="8330" y="2756"/>
            <a:chExt cx="5278" cy="278"/>
          </a:xfrm>
        </p:grpSpPr>
        <p:sp>
          <p:nvSpPr>
            <p:cNvPr id="71" name="Text 17"/>
            <p:cNvSpPr/>
            <p:nvPr/>
          </p:nvSpPr>
          <p:spPr>
            <a:xfrm>
              <a:off x="8877" y="2756"/>
              <a:ext cx="4731" cy="274"/>
            </a:xfrm>
            <a:prstGeom prst="rect">
              <a:avLst/>
            </a:prstGeom>
            <a:noFill/>
          </p:spPr>
          <p:txBody>
            <a:bodyPr wrap="square" rtlCol="0" anchor="ctr"/>
            <a:p>
              <a:pPr marL="0" indent="0">
                <a:buNone/>
              </a:pPr>
              <a:r>
                <a:rPr lang="en-US" sz="800" b="1" dirty="0">
                  <a:solidFill>
                    <a:srgbClr val="3B3538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5-Zone Suction-Synced Massage</a:t>
              </a:r>
              <a:r>
                <a:rPr lang="en-US" altLang="zh-CN" sz="800" b="1" dirty="0">
                  <a:solidFill>
                    <a:srgbClr val="3B3538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en-US" sz="80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2" name="组合 71"/>
            <p:cNvGrpSpPr/>
            <p:nvPr userDrawn="1"/>
          </p:nvGrpSpPr>
          <p:grpSpPr>
            <a:xfrm rot="0">
              <a:off x="8330" y="2775"/>
              <a:ext cx="547" cy="259"/>
              <a:chOff x="8957" y="2599"/>
              <a:chExt cx="547" cy="259"/>
            </a:xfrm>
          </p:grpSpPr>
          <p:sp>
            <p:nvSpPr>
              <p:cNvPr id="73" name="Shape 15"/>
              <p:cNvSpPr/>
              <p:nvPr/>
            </p:nvSpPr>
            <p:spPr>
              <a:xfrm>
                <a:off x="8957" y="2599"/>
                <a:ext cx="547" cy="259"/>
              </a:xfrm>
              <a:prstGeom prst="roundRect">
                <a:avLst>
                  <a:gd name="adj" fmla="val 22222"/>
                </a:avLst>
              </a:prstGeom>
              <a:solidFill>
                <a:srgbClr val="6A2B3A"/>
              </a:solidFill>
            </p:spPr>
          </p:sp>
          <p:sp>
            <p:nvSpPr>
              <p:cNvPr id="74" name="Text 16"/>
              <p:cNvSpPr/>
              <p:nvPr/>
            </p:nvSpPr>
            <p:spPr>
              <a:xfrm>
                <a:off x="8957" y="2628"/>
                <a:ext cx="547" cy="230"/>
              </a:xfrm>
              <a:prstGeom prst="rect">
                <a:avLst/>
              </a:prstGeom>
              <a:noFill/>
            </p:spPr>
            <p:txBody>
              <a:bodyPr wrap="square" rtlCol="0" anchor="ctr"/>
              <a:p>
                <a:pPr marL="0" indent="0" algn="ctr">
                  <a:buNone/>
                </a:pPr>
                <a:r>
                  <a:rPr 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P0</a:t>
                </a:r>
                <a:endParaRPr lang="en-US" sz="700" dirty="0"/>
              </a:p>
            </p:txBody>
          </p:sp>
        </p:grpSp>
      </p:grpSp>
      <p:grpSp>
        <p:nvGrpSpPr>
          <p:cNvPr id="78" name="组合 77"/>
          <p:cNvGrpSpPr/>
          <p:nvPr userDrawn="1"/>
        </p:nvGrpSpPr>
        <p:grpSpPr>
          <a:xfrm rot="0">
            <a:off x="5746750" y="3641725"/>
            <a:ext cx="347345" cy="164465"/>
            <a:chOff x="8957" y="2866"/>
            <a:chExt cx="547" cy="259"/>
          </a:xfrm>
        </p:grpSpPr>
        <p:sp>
          <p:nvSpPr>
            <p:cNvPr id="79" name="Shape 18"/>
            <p:cNvSpPr/>
            <p:nvPr/>
          </p:nvSpPr>
          <p:spPr>
            <a:xfrm>
              <a:off x="8957" y="2866"/>
              <a:ext cx="547" cy="259"/>
            </a:xfrm>
            <a:prstGeom prst="roundRect">
              <a:avLst>
                <a:gd name="adj" fmla="val 22222"/>
              </a:avLst>
            </a:prstGeom>
            <a:solidFill>
              <a:srgbClr val="D9A8A3"/>
            </a:solidFill>
          </p:spPr>
        </p:sp>
        <p:sp>
          <p:nvSpPr>
            <p:cNvPr id="80" name="Text 19"/>
            <p:cNvSpPr/>
            <p:nvPr/>
          </p:nvSpPr>
          <p:spPr>
            <a:xfrm>
              <a:off x="8957" y="2894"/>
              <a:ext cx="547" cy="230"/>
            </a:xfrm>
            <a:prstGeom prst="rect">
              <a:avLst/>
            </a:prstGeom>
            <a:noFill/>
          </p:spPr>
          <p:txBody>
            <a:bodyPr wrap="square" rtlCol="0" anchor="ctr"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P2</a:t>
              </a:r>
              <a:endParaRPr lang="en-US" sz="700" dirty="0"/>
            </a:p>
          </p:txBody>
        </p:sp>
      </p:grpSp>
      <p:sp>
        <p:nvSpPr>
          <p:cNvPr id="82" name="Text 35"/>
          <p:cNvSpPr/>
          <p:nvPr/>
        </p:nvSpPr>
        <p:spPr>
          <a:xfrm>
            <a:off x="6085840" y="3636010"/>
            <a:ext cx="2487295" cy="173355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800" b="1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Easy to Use</a:t>
            </a:r>
            <a:r>
              <a:rPr lang="en-US" sz="8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with One-Press Assembly and Only 5 Parts to Clean.</a:t>
            </a:r>
            <a:endParaRPr lang="en-US" sz="8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4" name="组合 83"/>
          <p:cNvGrpSpPr/>
          <p:nvPr userDrawn="1"/>
        </p:nvGrpSpPr>
        <p:grpSpPr>
          <a:xfrm>
            <a:off x="5753416" y="4120497"/>
            <a:ext cx="2834005" cy="172720"/>
            <a:chOff x="9056" y="3684"/>
            <a:chExt cx="4463" cy="272"/>
          </a:xfrm>
        </p:grpSpPr>
        <p:grpSp>
          <p:nvGrpSpPr>
            <p:cNvPr id="85" name="组合 84"/>
            <p:cNvGrpSpPr/>
            <p:nvPr userDrawn="1"/>
          </p:nvGrpSpPr>
          <p:grpSpPr>
            <a:xfrm>
              <a:off x="9056" y="3691"/>
              <a:ext cx="547" cy="259"/>
              <a:chOff x="8957" y="2599"/>
              <a:chExt cx="547" cy="259"/>
            </a:xfrm>
          </p:grpSpPr>
          <p:sp>
            <p:nvSpPr>
              <p:cNvPr id="86" name="Shape 15"/>
              <p:cNvSpPr/>
              <p:nvPr/>
            </p:nvSpPr>
            <p:spPr>
              <a:xfrm>
                <a:off x="8957" y="2599"/>
                <a:ext cx="547" cy="259"/>
              </a:xfrm>
              <a:prstGeom prst="roundRect">
                <a:avLst>
                  <a:gd name="adj" fmla="val 22222"/>
                </a:avLst>
              </a:prstGeom>
              <a:solidFill>
                <a:srgbClr val="B27A7E"/>
              </a:solidFill>
            </p:spPr>
          </p:sp>
          <p:sp>
            <p:nvSpPr>
              <p:cNvPr id="88" name="Text 16"/>
              <p:cNvSpPr/>
              <p:nvPr/>
            </p:nvSpPr>
            <p:spPr>
              <a:xfrm>
                <a:off x="8957" y="2614"/>
                <a:ext cx="547" cy="230"/>
              </a:xfrm>
              <a:prstGeom prst="rect">
                <a:avLst/>
              </a:prstGeom>
              <a:noFill/>
            </p:spPr>
            <p:txBody>
              <a:bodyPr wrap="square" rtlCol="0" anchor="ctr"/>
              <a:p>
                <a:pPr marL="0" indent="0" algn="ctr">
                  <a:buNone/>
                </a:pPr>
                <a:r>
                  <a:rPr 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P1</a:t>
                </a:r>
                <a:endParaRPr lang="en-US" sz="700" dirty="0"/>
              </a:p>
            </p:txBody>
          </p:sp>
        </p:grpSp>
        <p:sp>
          <p:nvSpPr>
            <p:cNvPr id="89" name="Text 20"/>
            <p:cNvSpPr/>
            <p:nvPr/>
          </p:nvSpPr>
          <p:spPr>
            <a:xfrm>
              <a:off x="9603" y="3684"/>
              <a:ext cx="3917" cy="274"/>
            </a:xfrm>
            <a:prstGeom prst="rect">
              <a:avLst/>
            </a:prstGeom>
            <a:noFill/>
          </p:spPr>
          <p:txBody>
            <a:bodyPr wrap="square" rtlCol="0" anchor="ctr"/>
            <a:p>
              <a:pPr marL="0" indent="0">
                <a:buNone/>
              </a:pPr>
              <a:r>
                <a:rPr lang="en-US" sz="800" b="1" dirty="0"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Smart App Control</a:t>
              </a:r>
              <a:r>
                <a:rPr lang="en-US" altLang="zh-CN" sz="800" dirty="0"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: </a:t>
              </a:r>
              <a:r>
                <a:rPr lang="en-US" sz="800" dirty="0"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manage every session from your phone. </a:t>
              </a:r>
              <a:endParaRPr lang="en-US" sz="8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1" name="组合 90"/>
          <p:cNvGrpSpPr/>
          <p:nvPr userDrawn="1"/>
        </p:nvGrpSpPr>
        <p:grpSpPr>
          <a:xfrm rot="0">
            <a:off x="5746992" y="3873166"/>
            <a:ext cx="347345" cy="164465"/>
            <a:chOff x="8957" y="2866"/>
            <a:chExt cx="547" cy="259"/>
          </a:xfrm>
        </p:grpSpPr>
        <p:sp>
          <p:nvSpPr>
            <p:cNvPr id="92" name="Shape 18"/>
            <p:cNvSpPr/>
            <p:nvPr/>
          </p:nvSpPr>
          <p:spPr>
            <a:xfrm>
              <a:off x="8957" y="2866"/>
              <a:ext cx="547" cy="259"/>
            </a:xfrm>
            <a:prstGeom prst="roundRect">
              <a:avLst>
                <a:gd name="adj" fmla="val 22222"/>
              </a:avLst>
            </a:prstGeom>
            <a:solidFill>
              <a:srgbClr val="D9A8A3"/>
            </a:solidFill>
          </p:spPr>
        </p:sp>
        <p:sp>
          <p:nvSpPr>
            <p:cNvPr id="93" name="Text 19"/>
            <p:cNvSpPr/>
            <p:nvPr/>
          </p:nvSpPr>
          <p:spPr>
            <a:xfrm>
              <a:off x="8957" y="2894"/>
              <a:ext cx="547" cy="230"/>
            </a:xfrm>
            <a:prstGeom prst="rect">
              <a:avLst/>
            </a:prstGeom>
            <a:noFill/>
          </p:spPr>
          <p:txBody>
            <a:bodyPr wrap="square" rtlCol="0" anchor="ctr"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P2</a:t>
              </a:r>
              <a:endParaRPr lang="en-US" sz="700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Text 1"/>
          <p:cNvSpPr/>
          <p:nvPr/>
        </p:nvSpPr>
        <p:spPr>
          <a:xfrm>
            <a:off x="502920" y="237744"/>
            <a:ext cx="8138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REASONS TO BELIEVE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each message is true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850392"/>
            <a:ext cx="8138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You do not need to recite these on camera. You do need to understand them, so your own words stay accurate.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502920" y="1280160"/>
          <a:ext cx="8138160" cy="3017518"/>
        </p:xfrm>
        <a:graphic>
          <a:graphicData uri="http://schemas.openxmlformats.org/drawingml/2006/table">
            <a:tbl>
              <a:tblPr/>
              <a:tblGrid>
                <a:gridCol w="2926080"/>
                <a:gridCol w="5212080"/>
              </a:tblGrid>
              <a:tr h="4310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Core message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Reason to believe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My reason for choosing W</a:t>
                      </a:r>
                      <a:r>
                        <a:rPr lang="en-US" altLang="zh-CN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ellness </a:t>
                      </a: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 comes from the complete combination of features — not one individual specification.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W1 combines full-surface warmth, surround suction-synced massage, SoftPuls</a:t>
                      </a:r>
                      <a:r>
                        <a:rPr lang="en-US" altLang="zh-CN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</a:t>
                      </a: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 gentle pulses and the DoubleFit™ dual-layer flange — delivering more even warmth, a gentler feel and smoother emptying, without sacrificing strong suction or a secure seal.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Warmth and massage are the key experiences that set W</a:t>
                      </a:r>
                      <a:r>
                        <a:rPr lang="en-US" altLang="zh-CN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ellness </a:t>
                      </a: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 apart from a basic breast pump.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Warmth covers the full flange-to-breast contact area — not only a few isolated points — with 99°F, 102°F and 106°F settings for fast, even warming. Surround massage uses gentle rhythmic vibration that activates during each pull and pauses on release, with 3 levels.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After using different breast pumps, I now care more about the complete experience.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Full-surface warmth, surround rhythmic massage, SoftPulse micro pulses and the DoubleFit™ dual-layer flange work together. W</a:t>
                      </a:r>
                      <a:r>
                        <a:rPr lang="en-US" altLang="zh-CN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ellness </a:t>
                      </a: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 also lets you adjust warmth, massage, suction and modes from the phone.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App control better fits the real-life needs of a mom with multiple children.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Adjust warmth, massage, suction and modes from the phone; choose an expert-tuned program or save a routine that works for you.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The transparent top means I don’t have to rely on feel alone to check my positioning.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 transparent top helps you check nipple alignment and milk flow, while the clear collector holds 6 oz.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How well a pump fits into my current life matters more than specifications alone.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One-press release, and only 5 milk-contact parts to wash. The transparent top also lets you check placement and milk flow without repeatedly removing the pump.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83880" y="4777740"/>
            <a:ext cx="457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B27A7E"/>
          </a:solidFill>
        </p:spPr>
      </p:sp>
      <p:sp>
        <p:nvSpPr>
          <p:cNvPr id="4" name="Shape 2"/>
          <p:cNvSpPr/>
          <p:nvPr/>
        </p:nvSpPr>
        <p:spPr>
          <a:xfrm>
            <a:off x="-1097280" y="2217420"/>
            <a:ext cx="4206240" cy="4206240"/>
          </a:xfrm>
          <a:prstGeom prst="ellipse">
            <a:avLst/>
          </a:prstGeom>
          <a:solidFill>
            <a:srgbClr val="8A3A4C"/>
          </a:solidFill>
        </p:spPr>
      </p:sp>
      <p:sp>
        <p:nvSpPr>
          <p:cNvPr id="5" name="Text 3"/>
          <p:cNvSpPr/>
          <p:nvPr/>
        </p:nvSpPr>
        <p:spPr>
          <a:xfrm>
            <a:off x="502920" y="1691640"/>
            <a:ext cx="18288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502920" y="2724912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Guidelines &amp; Delivery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3255264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DAC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Usage · Compliance · Timeline · Rights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Text 1"/>
          <p:cNvSpPr/>
          <p:nvPr/>
        </p:nvSpPr>
        <p:spPr>
          <a:xfrm>
            <a:off x="502920" y="237744"/>
            <a:ext cx="8138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PRODUCT USAGE &amp; DO’S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to use it on camera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850392"/>
            <a:ext cx="8138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Getting these wrong is the most common reason a video has to be reshot.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3931920" cy="2231119"/>
          </a:xfrm>
          <a:prstGeom prst="roundRect">
            <a:avLst>
              <a:gd name="adj" fmla="val 3488"/>
            </a:avLst>
          </a:prstGeom>
          <a:solidFill>
            <a:srgbClr val="FBF0E6"/>
          </a:solidFill>
        </p:spPr>
      </p:sp>
      <p:sp>
        <p:nvSpPr>
          <p:cNvPr id="7" name="Shape 5"/>
          <p:cNvSpPr/>
          <p:nvPr/>
        </p:nvSpPr>
        <p:spPr>
          <a:xfrm>
            <a:off x="502920" y="1261872"/>
            <a:ext cx="57995" cy="2231119"/>
          </a:xfrm>
          <a:prstGeom prst="rect">
            <a:avLst/>
          </a:prstGeom>
          <a:solidFill>
            <a:srgbClr val="B0662F"/>
          </a:solidFill>
        </p:spPr>
      </p:sp>
      <p:sp>
        <p:nvSpPr>
          <p:cNvPr id="8" name="Text 6"/>
          <p:cNvSpPr/>
          <p:nvPr/>
        </p:nvSpPr>
        <p:spPr>
          <a:xfrm>
            <a:off x="685800" y="1353312"/>
            <a:ext cx="35661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Product usage — safety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9873" y="1756522"/>
            <a:ext cx="3834938" cy="199164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1450" indent="-171450">
              <a:lnSpc>
                <a:spcPct val="140000"/>
              </a:lnSpc>
              <a:buChar char="•"/>
            </a:pPr>
            <a:r>
              <a:rPr lang="en-US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Remove the motor before pouring milk.</a:t>
            </a:r>
            <a:endParaRPr lang="en-US" sz="950" dirty="0"/>
          </a:p>
          <a:p>
            <a:pPr marL="171450" indent="-171450">
              <a:lnSpc>
                <a:spcPct val="140000"/>
              </a:lnSpc>
              <a:buChar char="•"/>
            </a:pPr>
            <a:r>
              <a:rPr lang="en-US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Flange accessories are not microwave-safe. Do not sterilize them in a microwave.</a:t>
            </a:r>
            <a:endParaRPr lang="en-US" sz="950" dirty="0"/>
          </a:p>
          <a:p>
            <a:pPr marL="171450" indent="-171450">
              <a:lnSpc>
                <a:spcPct val="140000"/>
              </a:lnSpc>
              <a:buChar char="•"/>
            </a:pPr>
            <a:r>
              <a:rPr lang="en-US" altLang="zh-CN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</a:t>
            </a:r>
            <a:r>
              <a:rPr lang="en-US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lease use the product as demonstrated in the instruction video (link </a:t>
            </a:r>
            <a:r>
              <a:rPr lang="en-US" altLang="zh-CN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altLang="zh-CN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hlinkClick r:id="rId1"/>
              </a:rPr>
              <a:t>https://www.youtube.com/watch?v=YLZGj2YY2e4</a:t>
            </a:r>
            <a:r>
              <a:rPr lang="en-US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.</a:t>
            </a:r>
            <a:r>
              <a:rPr lang="en-US" altLang="zh-CN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) </a:t>
            </a:r>
            <a:endParaRPr lang="en-US" sz="950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171450" indent="-171450">
              <a:lnSpc>
                <a:spcPct val="140000"/>
              </a:lnSpc>
              <a:buChar char="•"/>
            </a:pPr>
            <a:r>
              <a:rPr lang="en-US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 your safety, do not use the breast pump while driving.</a:t>
            </a:r>
            <a:endParaRPr lang="en-US" sz="950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17720" y="1261872"/>
            <a:ext cx="4023360" cy="2231136"/>
          </a:xfrm>
          <a:prstGeom prst="roundRect">
            <a:avLst>
              <a:gd name="adj" fmla="val 2459"/>
            </a:avLst>
          </a:prstGeom>
          <a:solidFill>
            <a:srgbClr val="EAF0ED"/>
          </a:solidFill>
        </p:spPr>
      </p:sp>
      <p:sp>
        <p:nvSpPr>
          <p:cNvPr id="13" name="Shape 11"/>
          <p:cNvSpPr/>
          <p:nvPr/>
        </p:nvSpPr>
        <p:spPr>
          <a:xfrm>
            <a:off x="4617720" y="1261872"/>
            <a:ext cx="45720" cy="2231136"/>
          </a:xfrm>
          <a:prstGeom prst="rect">
            <a:avLst/>
          </a:prstGeom>
          <a:solidFill>
            <a:srgbClr val="6B857B"/>
          </a:solidFill>
        </p:spPr>
      </p:sp>
      <p:sp>
        <p:nvSpPr>
          <p:cNvPr id="14" name="Text 12"/>
          <p:cNvSpPr/>
          <p:nvPr/>
        </p:nvSpPr>
        <p:spPr>
          <a:xfrm>
            <a:off x="4809744" y="1353312"/>
            <a:ext cx="36576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85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Do’s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9744" y="1627632"/>
            <a:ext cx="3703320" cy="17922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1450" indent="-171450">
              <a:lnSpc>
                <a:spcPct val="140000"/>
              </a:lnSpc>
              <a:buChar char="•"/>
            </a:pPr>
            <a:r>
              <a:rPr lang="en-US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 the full product name </a:t>
            </a:r>
            <a:r>
              <a:rPr lang="en-US" altLang="zh-CN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</a:t>
            </a:r>
            <a:r>
              <a:rPr lang="en-US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Momcozy Wellness 1</a:t>
            </a:r>
            <a:r>
              <a:rPr lang="en-US" altLang="zh-CN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 </a:t>
            </a:r>
            <a:r>
              <a:rPr lang="en-US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each time you mention it.</a:t>
            </a:r>
            <a:endParaRPr lang="en-US" sz="950" dirty="0"/>
          </a:p>
          <a:p>
            <a:pPr marL="171450" indent="-171450">
              <a:lnSpc>
                <a:spcPct val="140000"/>
              </a:lnSpc>
              <a:buChar char="•"/>
            </a:pPr>
            <a:r>
              <a:rPr lang="en-US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Hold the product on camera so viewers can see what you are describing.</a:t>
            </a:r>
            <a:endParaRPr lang="en-US" sz="950" dirty="0"/>
          </a:p>
          <a:p>
            <a:pPr marL="171450" indent="-171450">
              <a:lnSpc>
                <a:spcPct val="140000"/>
              </a:lnSpc>
              <a:buChar char="•"/>
            </a:pPr>
            <a:r>
              <a:rPr lang="en-US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Rewrite the suggested lines in your own voice — accuracy matters, wording does not.</a:t>
            </a:r>
            <a:endParaRPr lang="en-US" sz="950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171450" indent="-171450">
              <a:lnSpc>
                <a:spcPct val="140000"/>
              </a:lnSpc>
              <a:buChar char="•"/>
            </a:pPr>
            <a:r>
              <a:rPr lang="en-US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FTC Disclosure: clearly disclose sponsored content using #ad or Paid Partnership in a visible position within the content.</a:t>
            </a:r>
            <a:endParaRPr lang="en-US" sz="950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2918" y="3575728"/>
            <a:ext cx="8138160" cy="1201993"/>
          </a:xfrm>
          <a:prstGeom prst="roundRect">
            <a:avLst>
              <a:gd name="adj" fmla="val 6579"/>
            </a:avLst>
          </a:prstGeom>
          <a:solidFill>
            <a:srgbClr val="FFF0EF"/>
          </a:solidFill>
        </p:spPr>
      </p:sp>
      <p:sp>
        <p:nvSpPr>
          <p:cNvPr id="17" name="Text 15"/>
          <p:cNvSpPr/>
          <p:nvPr/>
        </p:nvSpPr>
        <p:spPr>
          <a:xfrm>
            <a:off x="642835" y="3619304"/>
            <a:ext cx="2743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Must do in every post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2835" y="3838760"/>
            <a:ext cx="777240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1450" indent="-171450">
              <a:lnSpc>
                <a:spcPct val="120000"/>
              </a:lnSpc>
              <a:buChar char="•"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Tag @momcozy_breastfeeding @momcozyofficial</a:t>
            </a:r>
            <a:endParaRPr lang="en-US" sz="850" dirty="0"/>
          </a:p>
          <a:p>
            <a:pPr marL="171450" indent="-171450">
              <a:lnSpc>
                <a:spcPct val="120000"/>
              </a:lnSpc>
              <a:buChar char="•"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 hashtags: #wearablepumps #momcozybreastpump #pumpingmom #pumpingtips #ad / paid partnership</a:t>
            </a:r>
            <a:endParaRPr lang="en-US" sz="850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171450" indent="-171450">
              <a:lnSpc>
                <a:spcPct val="120000"/>
              </a:lnSpc>
              <a:buChar char="•"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Please include a natural, non-salesy CTA at the end of the video, such as “</a:t>
            </a:r>
            <a:r>
              <a:rPr lang="en-US" sz="850" b="1" i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Feel free to leave any questions in the comments</a:t>
            </a: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” or “</a:t>
            </a:r>
            <a:r>
              <a:rPr lang="en-US" sz="850" b="1" i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If you’re interested, check out the link in my bio to learn more</a:t>
            </a:r>
            <a:r>
              <a:rPr lang="en-US" sz="850" i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”  Please also add the product link below to your bio for tracking purposes:  </a:t>
            </a:r>
            <a:r>
              <a:rPr lang="en-US" sz="850" dirty="0">
                <a:solidFill>
                  <a:srgbClr val="3B3538"/>
                </a:solidFill>
                <a:highlight>
                  <a:srgbClr val="FFFF00"/>
                </a:highlight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https://www.amazon.com/dp/B0G6417BM1?maas=maas_adg_565A2414873D2F93B2A2CD8C4C0FCC05_afap_abs&amp;ref_=aa_maas&amp;tag=maas</a:t>
            </a:r>
            <a:endParaRPr lang="en-US" sz="850" dirty="0">
              <a:solidFill>
                <a:srgbClr val="3B3538"/>
              </a:solidFill>
              <a:highlight>
                <a:srgbClr val="FFFF00"/>
              </a:highlight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183880" y="4777740"/>
            <a:ext cx="457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</a:t>
            </a:r>
            <a:endParaRPr lang="en-US" sz="900" dirty="0"/>
          </a:p>
        </p:txBody>
      </p:sp>
      <p:pic>
        <p:nvPicPr>
          <p:cNvPr id="20" name="图片 19" descr="upload_post_object_v2_8273725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744" y="1178943"/>
            <a:ext cx="1435067" cy="7976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Text 1"/>
          <p:cNvSpPr/>
          <p:nvPr/>
        </p:nvSpPr>
        <p:spPr>
          <a:xfrm>
            <a:off x="502920" y="237744"/>
            <a:ext cx="8138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COMPLIANCE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Red lines — not negotiable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850392"/>
            <a:ext cx="8138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video that crosses any of these cannot be published, and will have to be reshot.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3608" y="1517646"/>
            <a:ext cx="8138160" cy="548640"/>
          </a:xfrm>
          <a:prstGeom prst="roundRect">
            <a:avLst>
              <a:gd name="adj" fmla="val 8333"/>
            </a:avLst>
          </a:prstGeom>
          <a:solidFill>
            <a:srgbClr val="FBF0E6"/>
          </a:solidFill>
        </p:spPr>
      </p:sp>
      <p:sp>
        <p:nvSpPr>
          <p:cNvPr id="7" name="Shape 5"/>
          <p:cNvSpPr/>
          <p:nvPr/>
        </p:nvSpPr>
        <p:spPr>
          <a:xfrm>
            <a:off x="533608" y="1517646"/>
            <a:ext cx="45720" cy="548640"/>
          </a:xfrm>
          <a:prstGeom prst="rect">
            <a:avLst/>
          </a:prstGeom>
          <a:solidFill>
            <a:srgbClr val="B0662F"/>
          </a:solidFill>
        </p:spPr>
      </p:sp>
      <p:sp>
        <p:nvSpPr>
          <p:cNvPr id="8" name="Text 6"/>
          <p:cNvSpPr/>
          <p:nvPr/>
        </p:nvSpPr>
        <p:spPr>
          <a:xfrm>
            <a:off x="661624" y="1572510"/>
            <a:ext cx="2560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90808" y="1563366"/>
            <a:ext cx="749808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 not claim or imply that Momcozy Wellness 1 can unclog, clear, or break up clogged milk ducts, relieve breast engorgement, treat, relieve, or prevent mastitis, increase milk supply, provide more complete emptying, guarantee faster let-down, or provide deep massage.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33608" y="2148582"/>
            <a:ext cx="8138160" cy="548640"/>
          </a:xfrm>
          <a:prstGeom prst="roundRect">
            <a:avLst>
              <a:gd name="adj" fmla="val 8333"/>
            </a:avLst>
          </a:prstGeom>
          <a:solidFill>
            <a:srgbClr val="FBF0E6"/>
          </a:solidFill>
        </p:spPr>
      </p:sp>
      <p:sp>
        <p:nvSpPr>
          <p:cNvPr id="11" name="Shape 9"/>
          <p:cNvSpPr/>
          <p:nvPr/>
        </p:nvSpPr>
        <p:spPr>
          <a:xfrm>
            <a:off x="533608" y="2148582"/>
            <a:ext cx="45720" cy="548640"/>
          </a:xfrm>
          <a:prstGeom prst="rect">
            <a:avLst/>
          </a:prstGeom>
          <a:solidFill>
            <a:srgbClr val="B0662F"/>
          </a:solidFill>
        </p:spPr>
      </p:sp>
      <p:sp>
        <p:nvSpPr>
          <p:cNvPr id="12" name="Text 10"/>
          <p:cNvSpPr/>
          <p:nvPr/>
        </p:nvSpPr>
        <p:spPr>
          <a:xfrm>
            <a:off x="661624" y="2203446"/>
            <a:ext cx="2560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90808" y="2194302"/>
            <a:ext cx="749808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 not provide personalized medical advice. For persistent pain or discomfort, encourage viewers to consult a healthcare professional.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33608" y="2779518"/>
            <a:ext cx="8138160" cy="548640"/>
          </a:xfrm>
          <a:prstGeom prst="roundRect">
            <a:avLst>
              <a:gd name="adj" fmla="val 8333"/>
            </a:avLst>
          </a:prstGeom>
          <a:solidFill>
            <a:srgbClr val="FBF0E6"/>
          </a:solidFill>
        </p:spPr>
      </p:sp>
      <p:sp>
        <p:nvSpPr>
          <p:cNvPr id="15" name="Shape 13"/>
          <p:cNvSpPr/>
          <p:nvPr/>
        </p:nvSpPr>
        <p:spPr>
          <a:xfrm>
            <a:off x="533608" y="2779518"/>
            <a:ext cx="45720" cy="548640"/>
          </a:xfrm>
          <a:prstGeom prst="rect">
            <a:avLst/>
          </a:prstGeom>
          <a:solidFill>
            <a:srgbClr val="B0662F"/>
          </a:solidFill>
        </p:spPr>
      </p:sp>
      <p:sp>
        <p:nvSpPr>
          <p:cNvPr id="16" name="Text 14"/>
          <p:cNvSpPr/>
          <p:nvPr/>
        </p:nvSpPr>
        <p:spPr>
          <a:xfrm>
            <a:off x="661624" y="2834382"/>
            <a:ext cx="2560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✕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90808" y="2825238"/>
            <a:ext cx="749808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 not mention or compare competitor brands or products. You may only refer to “my old pump.”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33608" y="3410454"/>
            <a:ext cx="8138160" cy="548640"/>
          </a:xfrm>
          <a:prstGeom prst="roundRect">
            <a:avLst>
              <a:gd name="adj" fmla="val 8333"/>
            </a:avLst>
          </a:prstGeom>
          <a:solidFill>
            <a:srgbClr val="FBF0E6"/>
          </a:solidFill>
        </p:spPr>
      </p:sp>
      <p:sp>
        <p:nvSpPr>
          <p:cNvPr id="19" name="Shape 17"/>
          <p:cNvSpPr/>
          <p:nvPr/>
        </p:nvSpPr>
        <p:spPr>
          <a:xfrm>
            <a:off x="533608" y="3410454"/>
            <a:ext cx="45720" cy="548640"/>
          </a:xfrm>
          <a:prstGeom prst="rect">
            <a:avLst/>
          </a:prstGeom>
          <a:solidFill>
            <a:srgbClr val="B0662F"/>
          </a:solidFill>
        </p:spPr>
      </p:sp>
      <p:sp>
        <p:nvSpPr>
          <p:cNvPr id="20" name="Text 18"/>
          <p:cNvSpPr/>
          <p:nvPr/>
        </p:nvSpPr>
        <p:spPr>
          <a:xfrm>
            <a:off x="661624" y="3465318"/>
            <a:ext cx="2560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90808" y="3456174"/>
            <a:ext cx="749808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 not include alcohol, guns, violence, blood, or drugs.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183880" y="4777740"/>
            <a:ext cx="457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Text 1"/>
          <p:cNvSpPr/>
          <p:nvPr/>
        </p:nvSpPr>
        <p:spPr>
          <a:xfrm>
            <a:off x="502920" y="237744"/>
            <a:ext cx="8138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TIMELINE &amp; RIGHTS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Delivery, timing and usage rights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850392"/>
            <a:ext cx="8138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Tell us early if anything is going to slip.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502920" y="1261872"/>
          <a:ext cx="8138160" cy="1920240"/>
        </p:xfrm>
        <a:graphic>
          <a:graphicData uri="http://schemas.openxmlformats.org/drawingml/2006/table">
            <a:tbl>
              <a:tblPr/>
              <a:tblGrid>
                <a:gridCol w="1325880"/>
                <a:gridCol w="3246120"/>
                <a:gridCol w="2148840"/>
                <a:gridCol w="1417320"/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Stage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Deliverable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Due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Owner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Product received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Shipment confirmation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—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Momcozy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Draft submission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First cut of the video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Within 14 days of receiving the product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Creator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Feedback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Revision notes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B0662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［ ］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Momcozy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Final delivery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Final edit + raw footage (no subtitles / end cards)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B0662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［ ］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Creator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Publish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Live post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As agreed via email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Creator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Reporting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Backend screenshots / performance data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B0662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［ ］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Creator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3310128"/>
            <a:ext cx="8138160" cy="1097280"/>
          </a:xfrm>
          <a:prstGeom prst="roundRect">
            <a:avLst>
              <a:gd name="adj" fmla="val 4167"/>
            </a:avLst>
          </a:prstGeom>
          <a:solidFill>
            <a:srgbClr val="FFF0EF"/>
          </a:solidFill>
        </p:spPr>
      </p:sp>
      <p:sp>
        <p:nvSpPr>
          <p:cNvPr id="8" name="Text 5"/>
          <p:cNvSpPr/>
          <p:nvPr/>
        </p:nvSpPr>
        <p:spPr>
          <a:xfrm>
            <a:off x="685800" y="3383280"/>
            <a:ext cx="45720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Usage rights &amp; confidentiality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5800" y="3602736"/>
            <a:ext cx="7772400" cy="7498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80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·  Momcozy retains full usage and secondary editing rights for 3 months across owned and paid channels, including TikTok Spark Ads, Instagram Ads, website, social media, paid advertising, and email marketing.</a:t>
            </a:r>
            <a:endParaRPr lang="en-US" sz="8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80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·  Please provide the final edited video, raw footage (without subtitles or end cards), and allow Momcozy to use your photo and bio when reposting the content.</a:t>
            </a:r>
            <a:endParaRPr lang="en-US" sz="8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80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·  All information shared by Momcozy is confidential and may not be disclosed to any third party without prior written consent from Momcozy.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183880" y="4777740"/>
            <a:ext cx="457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Shape 1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8A3A4C"/>
          </a:solidFill>
        </p:spPr>
      </p:sp>
      <p:sp>
        <p:nvSpPr>
          <p:cNvPr id="4" name="Shape 2"/>
          <p:cNvSpPr/>
          <p:nvPr/>
        </p:nvSpPr>
        <p:spPr>
          <a:xfrm>
            <a:off x="6766560" y="-1371600"/>
            <a:ext cx="3840480" cy="3840480"/>
          </a:xfrm>
          <a:prstGeom prst="ellipse">
            <a:avLst/>
          </a:prstGeom>
          <a:solidFill>
            <a:srgbClr val="B27A7E"/>
          </a:solidFill>
        </p:spPr>
      </p:sp>
      <p:sp>
        <p:nvSpPr>
          <p:cNvPr id="5" name="Shape 3"/>
          <p:cNvSpPr/>
          <p:nvPr/>
        </p:nvSpPr>
        <p:spPr>
          <a:xfrm>
            <a:off x="7772400" y="3406140"/>
            <a:ext cx="2560320" cy="2560320"/>
          </a:xfrm>
          <a:prstGeom prst="ellipse">
            <a:avLst/>
          </a:prstGeom>
          <a:solidFill>
            <a:srgbClr val="D9A8A3"/>
          </a:solidFill>
        </p:spPr>
      </p:sp>
      <p:sp>
        <p:nvSpPr>
          <p:cNvPr id="6" name="Text 4"/>
          <p:cNvSpPr/>
          <p:nvPr/>
        </p:nvSpPr>
        <p:spPr>
          <a:xfrm>
            <a:off x="502920" y="1737360"/>
            <a:ext cx="5486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2505456"/>
            <a:ext cx="54864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DAC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We’re glad you’re part of this launch.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962656"/>
            <a:ext cx="1005840" cy="32004"/>
          </a:xfrm>
          <a:prstGeom prst="rect">
            <a:avLst/>
          </a:prstGeom>
          <a:solidFill>
            <a:srgbClr val="F1DACE"/>
          </a:solidFill>
        </p:spPr>
      </p:sp>
      <p:sp>
        <p:nvSpPr>
          <p:cNvPr id="9" name="Text 7"/>
          <p:cNvSpPr/>
          <p:nvPr/>
        </p:nvSpPr>
        <p:spPr>
          <a:xfrm>
            <a:off x="502920" y="3163824"/>
            <a:ext cx="58521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Your contact:  </a:t>
            </a:r>
            <a:r>
              <a:rPr lang="en-US" sz="1100" dirty="0">
                <a:solidFill>
                  <a:srgbClr val="F1DAC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［ name / email ］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Asset download:  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1DAC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［ link ］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Compliance questions:  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1DAC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［ name / email ］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13943</Words>
  <Application>WPS Office WWO_feishu_20241028185521-3ecd29d096</Application>
  <PresentationFormat>On-screen Show (16:9)</PresentationFormat>
  <Paragraphs>713</Paragraphs>
  <Slides>18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Arial</vt:lpstr>
      <vt:lpstr>宋体</vt:lpstr>
      <vt:lpstr>Wingdings</vt:lpstr>
      <vt:lpstr>Arial</vt:lpstr>
      <vt:lpstr>Arial</vt:lpstr>
      <vt:lpstr>等线</vt:lpstr>
      <vt:lpstr>汉仪中等线KW</vt:lpstr>
      <vt:lpstr>等线</vt:lpstr>
      <vt:lpstr>等线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Momcozy Wellness 1 — Creator Brief (Moms of Multiple Kids)</dc:title>
  <dc:creator>PptxGenJS</dc:creator>
  <dc:subject>PptxGenJS Presentation</dc:subject>
  <cp:lastModifiedBy>PptxGenJS</cp:lastModifiedBy>
  <dcterms:created xsi:type="dcterms:W3CDTF">2026-08-11T02:16:09Z</dcterms:created>
  <dcterms:modified xsi:type="dcterms:W3CDTF">2026-08-11T02:16:09Z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CCC9581730FAF40D452F746AA7DB16ED_42</vt:lpwstr>
  </property>
  <property fmtid="{D5CDD505-2E9C-101B-9397-08002B2CF9AE}" pid="3" name="KSOProductBuildVer">
    <vt:lpwstr>2052-0.0.0.0</vt:lpwstr>
  </property>
</Properties>
</file>