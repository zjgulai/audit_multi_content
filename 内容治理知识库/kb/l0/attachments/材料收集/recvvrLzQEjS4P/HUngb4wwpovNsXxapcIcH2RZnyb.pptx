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4" r:id="rId7"/>
    <p:sldId id="275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88" r:id="rId17"/>
    <p:sldId id="271" r:id="rId18"/>
    <p:sldId id="272" r:id="rId19"/>
    <p:sldId id="273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不用动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hyperlink" Target="https://momcozy.com/products/momcozy-wellness-1-warm-massage-wearable-breast-pump-w1?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hyperlink" Target="https://www.youtube.com/watch?v=YLZGj2YY2e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8A3A4C"/>
          </a:solidFill>
        </p:spPr>
      </p:sp>
      <p:sp>
        <p:nvSpPr>
          <p:cNvPr id="4" name="Shape 2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rgbClr val="B27A7E"/>
          </a:solidFill>
        </p:spPr>
      </p:sp>
      <p:sp>
        <p:nvSpPr>
          <p:cNvPr id="5" name="Shape 3"/>
          <p:cNvSpPr/>
          <p:nvPr/>
        </p:nvSpPr>
        <p:spPr>
          <a:xfrm>
            <a:off x="7772400" y="3406140"/>
            <a:ext cx="2560320" cy="2560320"/>
          </a:xfrm>
          <a:prstGeom prst="ellipse">
            <a:avLst/>
          </a:prstGeom>
          <a:solidFill>
            <a:srgbClr val="D9A8A3"/>
          </a:solidFill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 ·  CREATOR CONTENT BRIEF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6583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6583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First* Warm-Massage Breast Pump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23744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8A3A4C"/>
          </a:solidFill>
          <a:ln w="9525">
            <a:solidFill>
              <a:srgbClr val="B27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87752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HEALTHCARE-WORKER MOMS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1005840" cy="32004"/>
          </a:xfrm>
          <a:prstGeom prst="rect">
            <a:avLst/>
          </a:prstGeom>
          <a:solidFill>
            <a:srgbClr val="F1DACE"/>
          </a:solidFill>
        </p:spPr>
      </p:sp>
      <p:sp>
        <p:nvSpPr>
          <p:cNvPr id="12" name="Text 10"/>
          <p:cNvSpPr/>
          <p:nvPr/>
        </p:nvSpPr>
        <p:spPr>
          <a:xfrm>
            <a:off x="502920" y="3236976"/>
            <a:ext cx="5852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Comfort. High Performance, Naturally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357116"/>
            <a:ext cx="6492240" cy="365760"/>
          </a:xfrm>
          <a:prstGeom prst="roundRect">
            <a:avLst>
              <a:gd name="adj" fmla="val 12500"/>
            </a:avLst>
          </a:prstGeom>
          <a:solidFill>
            <a:srgbClr val="8A3A4C"/>
          </a:solidFill>
          <a:ln w="9525">
            <a:solidFill>
              <a:srgbClr val="B27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421124"/>
            <a:ext cx="6217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Confidential — all information here is under embargo. Do not share externally.</a:t>
            </a:r>
            <a:endParaRPr lang="en-US" sz="9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02951" y="4722862"/>
            <a:ext cx="7315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900" i="1">
                <a:solidFill>
                  <a:srgbClr val="FFFFFF"/>
                </a:solidFill>
              </a:rPr>
              <a:t>*Based on available market data as of November 2025.</a:t>
            </a:r>
            <a:endParaRPr lang="zh-CN" altLang="en-US" sz="900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What’s in this brief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parts. Part 2 is written for you specifically; Parts 1 and 3 are the same for every creator on this campaign.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82296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704088" y="1673352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7048" y="1627632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Information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1938528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 · Selling points by priority · Specs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14016"/>
            <a:ext cx="45720" cy="82296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13" name="Text 11"/>
          <p:cNvSpPr/>
          <p:nvPr/>
        </p:nvSpPr>
        <p:spPr>
          <a:xfrm>
            <a:off x="704088" y="2642616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7048" y="2596896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Brief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7048" y="2907792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audience · Video topics · Key messages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83280"/>
            <a:ext cx="45720" cy="82296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18" name="Text 16"/>
          <p:cNvSpPr/>
          <p:nvPr/>
        </p:nvSpPr>
        <p:spPr>
          <a:xfrm>
            <a:off x="704088" y="3611880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27048" y="356616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Guidelines &amp; Delivery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27048" y="3877056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· Compliance · Timeline · Rights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Information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is, what it does, and what you can say about it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First* Warm-Massage Breast Pump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7033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A8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389120" y="1261872"/>
            <a:ext cx="425196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 is a wearable breast pump built to make pumping feel warmer, gentler, and just easier to fit into real life.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4480560" y="2039112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Slogan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039112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Comfort. High Performance, Naturally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322576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4480560" y="2350008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MSRP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2350008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$329.99 USD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633472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4480560" y="2660904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Official link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2660904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https://momcozy.com/products/momcozy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wellness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1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warm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massage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wearable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breast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pump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w1?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0" y="2944368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4480560" y="2971800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Launch / region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971800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5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28416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SUGGESTED USE SCENARIOS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25" name="Text 23"/>
          <p:cNvSpPr/>
          <p:nvPr/>
        </p:nvSpPr>
        <p:spPr>
          <a:xfrm>
            <a:off x="649224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At-Home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while caring for baby and managing everyday life.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78608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8608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29" name="Text 27"/>
          <p:cNvSpPr/>
          <p:nvPr/>
        </p:nvSpPr>
        <p:spPr>
          <a:xfrm>
            <a:off x="2724912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Workday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24912" y="3877056"/>
            <a:ext cx="1755625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discreetly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effectively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throughout the workday.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54296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4296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33" name="Text 31"/>
          <p:cNvSpPr/>
          <p:nvPr/>
        </p:nvSpPr>
        <p:spPr>
          <a:xfrm>
            <a:off x="4800600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the Go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while commuting, shopping, or running errands.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9984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9984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37" name="Text 35"/>
          <p:cNvSpPr/>
          <p:nvPr/>
        </p:nvSpPr>
        <p:spPr>
          <a:xfrm>
            <a:off x="6876288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Nighttime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comfortably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with minimal disruption.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777740"/>
            <a:ext cx="7589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46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*Based on available market data as of November 2025.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  <p:pic>
        <p:nvPicPr>
          <p:cNvPr id="41" name="图片 40" descr="upload_post_object_v2_16514057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460" y="1296796"/>
            <a:ext cx="1443025" cy="1868666"/>
          </a:xfrm>
          <a:prstGeom prst="rect">
            <a:avLst/>
          </a:prstGeom>
        </p:spPr>
      </p:pic>
      <p:pic>
        <p:nvPicPr>
          <p:cNvPr id="42" name="图片 41" descr="upload_post_object_v2_3511826724"/>
          <p:cNvPicPr>
            <a:picLocks noChangeAspect="1"/>
          </p:cNvPicPr>
          <p:nvPr/>
        </p:nvPicPr>
        <p:blipFill>
          <a:blip r:embed="rId3"/>
          <a:srcRect b="25990"/>
          <a:stretch>
            <a:fillRect/>
          </a:stretch>
        </p:blipFill>
        <p:spPr>
          <a:xfrm>
            <a:off x="548630" y="1451452"/>
            <a:ext cx="2110858" cy="1559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SELLING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Selling points, by priority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P0 messages must appear. P1 and P2 are selectable — choose one of each. P3 is optional.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225296"/>
          <a:ext cx="8138160" cy="2917190"/>
        </p:xfrm>
        <a:graphic>
          <a:graphicData uri="http://schemas.openxmlformats.org/drawingml/2006/table">
            <a:tbl>
              <a:tblPr/>
              <a:tblGrid>
                <a:gridCol w="502920"/>
                <a:gridCol w="1832089"/>
                <a:gridCol w="5803151"/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Tier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Key message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this means for moms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P0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Full-Surface Warmth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Three adjustable warmth levels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cover the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 flange-to-breast contact area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, helping you feel more relaxed before pumping starts.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P0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5-Zone Suction-Synced Massage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Five massage zones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pulse when the pump pulls and pause when it releases, instead of buzzing continuously throughout the session..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DoubleFit™ Soft Dual-Layer Flange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 soft inner layer sits gently against your skin, while the supportive outer layer helps keep a steady seal as you move.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Smart App Control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Start, pause, adjust suction levels, and log your milk output—all from your phone.</a:t>
                      </a:r>
                      <a:endParaRPr lang="en-US" sz="750" dirty="0">
                        <a:solidFill>
                          <a:srgbClr val="3B3538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Easy to Use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One-press release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makes removal easier, and only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five washable parts 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after use.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5176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Transparent Top &amp; 6 oz Collector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transparent top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lets you check nipple alignment and milk flow without removing the pump, while the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6 oz collector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supports longer sessions.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Expert-Tuned Programs &amp; Personalized Rhythm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Start with an expert-tuned program, then adjust warmth, massage, suction, and modes in the App and save your preferred rhythm.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SoftPulse Baby-Like Suction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Small, steady micro pulses feel more like a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baby’s natural suck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—gentler on the breast, with up to 295 mmHg strength available when needed.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P3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4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Auto Shutoff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 stops automatically after 5 minutes and warmth after 15 minutes by default, so you do not need to keep checking the clock.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P3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4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Long Battery Use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Get up to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 pumping-only sessions 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 one charge, or up to 6 with warmth and massage on, with massage noise below 50 dB.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Specs you may be asked about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Facts only. None of these numbers may be turned into a performance or health claim.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316736"/>
          <a:ext cx="8138160" cy="1975104"/>
        </p:xfrm>
        <a:graphic>
          <a:graphicData uri="http://schemas.openxmlformats.org/drawingml/2006/table">
            <a:tbl>
              <a:tblPr/>
              <a:tblGrid>
                <a:gridCol w="1417320"/>
                <a:gridCol w="2651760"/>
                <a:gridCol w="1417320"/>
                <a:gridCol w="26517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Item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Spec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Item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Spec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levels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99°F / 102°F / 106°F (3 levels)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Surround massage, 3 levels, synced to suction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Max suction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to 295 mmHg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Collector capacity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 oz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Parts to wash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 milk-contact parts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Battery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to 10 sessions (pump only) / up to 6 (warmth + massage on)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Noise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Below 50 dB with massage 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Auto shutoff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 5 min / warmth 15 min (default)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App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 App — warmth, massage, suction, modes, manual output log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Flange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DoubleFit™ soft dual-layer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phrase a spec as an outcome. “Three warmth levels” is a fact. “Warms you up so you pump more” is a claim — see the red lines in Part 3.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Brief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Healthcare-Worker Moms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AUDIENCE &amp;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you’re speaking 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Everything in Part 2 assumes this context. If it does not match your channel, tell us before you film.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246120" cy="1591056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45720" cy="159105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85800" y="1353312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CREATOR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91056"/>
            <a:ext cx="2880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altLang="zh-CN" sz="10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</a:t>
            </a:r>
            <a:r>
              <a:rPr lang="en-US" sz="10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ealthcare-worker moms who are currently pumping. Their audience trusts them because they speak from both clinical exposure and lived experience.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261872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77640" y="1536192"/>
            <a:ext cx="173736" cy="173736"/>
          </a:xfrm>
          <a:prstGeom prst="ellipse">
            <a:avLst/>
          </a:prstGeom>
          <a:solidFill>
            <a:srgbClr val="6A2B3A"/>
          </a:solidFill>
        </p:spPr>
      </p:sp>
      <p:sp>
        <p:nvSpPr>
          <p:cNvPr id="14" name="Text 12"/>
          <p:cNvSpPr/>
          <p:nvPr/>
        </p:nvSpPr>
        <p:spPr>
          <a:xfrm>
            <a:off x="3977640" y="1549908"/>
            <a:ext cx="1737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42816" y="1499616"/>
            <a:ext cx="4389120" cy="35478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creators are suggested to wear nurse uniforms or healthcare workwear in the video, to establish an authentic healthcare-work context. </a:t>
            </a:r>
            <a:r>
              <a:rPr lang="en-US" altLang="zh-CN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Please do not expose any information of the hospital or clinc in front of camera.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77640" y="2272284"/>
            <a:ext cx="173736" cy="173736"/>
          </a:xfrm>
          <a:prstGeom prst="ellipse">
            <a:avLst/>
          </a:prstGeom>
          <a:solidFill>
            <a:srgbClr val="6A2B3A"/>
          </a:solidFill>
        </p:spPr>
      </p:sp>
      <p:sp>
        <p:nvSpPr>
          <p:cNvPr id="17" name="Text 15"/>
          <p:cNvSpPr/>
          <p:nvPr/>
        </p:nvSpPr>
        <p:spPr>
          <a:xfrm>
            <a:off x="3977640" y="2286000"/>
            <a:ext cx="1737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42816" y="2177796"/>
            <a:ext cx="4770120" cy="50474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Show how wearable pumping fits naturally into a high-demanding work routine — supporting comfort, secure fit, and easier pumping during designated private moments, without interrupting work or care responsibilities.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77640" y="2913888"/>
            <a:ext cx="173736" cy="173736"/>
          </a:xfrm>
          <a:prstGeom prst="ellipse">
            <a:avLst/>
          </a:prstGeom>
          <a:solidFill>
            <a:srgbClr val="6A2B3A"/>
          </a:solidFill>
        </p:spPr>
      </p:sp>
      <p:sp>
        <p:nvSpPr>
          <p:cNvPr id="20" name="Text 18"/>
          <p:cNvSpPr/>
          <p:nvPr/>
        </p:nvSpPr>
        <p:spPr>
          <a:xfrm>
            <a:off x="3977640" y="2927604"/>
            <a:ext cx="1737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51960" y="2852957"/>
            <a:ext cx="4389120" cy="6547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Prioritize authentic, experience-led content over clinical demonstrations. Show how the pump supports a comfortable, hands-free routine through long workdays, private breaks, and overnight pumping — without making medical, milk-supply, or treatment claims.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6A2B3A"/>
          </a:solidFill>
        </p:spPr>
      </p:sp>
      <p:sp>
        <p:nvSpPr>
          <p:cNvPr id="6" name="Text 4"/>
          <p:cNvSpPr/>
          <p:nvPr/>
        </p:nvSpPr>
        <p:spPr>
          <a:xfrm>
            <a:off x="667512" y="11887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45720" cy="8412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10" name="Text 8"/>
          <p:cNvSpPr/>
          <p:nvPr/>
        </p:nvSpPr>
        <p:spPr>
          <a:xfrm>
            <a:off x="649224" y="2020824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1865376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Workday Pumping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33272" y="2103120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50" i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Spend a day with me as a healthcare provider who is currently breastfeeding</a:t>
            </a:r>
            <a:endParaRPr lang="en-US" altLang="zh-CN" sz="950" i="1" dirty="0">
              <a:solidFill>
                <a:srgbClr val="6E646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15184"/>
            <a:ext cx="45720" cy="841248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15" name="Text 13"/>
          <p:cNvSpPr/>
          <p:nvPr/>
        </p:nvSpPr>
        <p:spPr>
          <a:xfrm>
            <a:off x="649224" y="2935224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3272" y="2779776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 Wearable Pump Review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33272" y="3017520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950" i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Share my honest experience using a wearable pump and how it fits into my breastfeeding journey.</a:t>
            </a:r>
            <a:endParaRPr lang="en-US" altLang="zh-CN" sz="950" i="1" dirty="0">
              <a:solidFill>
                <a:srgbClr val="6E646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3529584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29584"/>
            <a:ext cx="45720" cy="8412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0" name="Text 18"/>
          <p:cNvSpPr/>
          <p:nvPr/>
        </p:nvSpPr>
        <p:spPr>
          <a:xfrm>
            <a:off x="649224" y="3849624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" y="3694176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Pumping Education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33272" y="3931920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950" i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Share my personal pumping experience, including routines, challenges, and tips that helped me along the way.</a:t>
            </a:r>
            <a:endParaRPr lang="en-US" altLang="zh-CN" sz="950" i="1" dirty="0">
              <a:solidFill>
                <a:srgbClr val="6E646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100" b="1" dirty="0">
                <a:solidFill>
                  <a:srgbClr val="6A2B3A"/>
                </a:solidFill>
              </a:rPr>
              <a:t>Content Directions for Reference</a:t>
            </a:r>
            <a:endParaRPr lang="en-US" sz="2100" dirty="0"/>
          </a:p>
        </p:txBody>
      </p:sp>
      <p:sp>
        <p:nvSpPr>
          <p:cNvPr id="26" name="Text 5"/>
          <p:cNvSpPr/>
          <p:nvPr/>
        </p:nvSpPr>
        <p:spPr>
          <a:xfrm>
            <a:off x="978408" y="1124712"/>
            <a:ext cx="7479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Pick the one topic that fits your channel best. You know your audience better than we do — choose the angle you can genuinely pull off in your own life, and </a:t>
            </a:r>
            <a:r>
              <a:rPr lang="en-US" altLang="zh-CN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authetic and organic tone to deliver the content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messages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30947" y="1225307"/>
            <a:ext cx="8138160" cy="1581912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581912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Workday Pumping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11" y="1536200"/>
            <a:ext cx="4754880" cy="118323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Documentary-style, ranging from a single pumping moment to a full-day routine.</a:t>
            </a:r>
            <a:endParaRPr lang="en-US" sz="8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Pick the angle that matches your own shift:</a:t>
            </a:r>
            <a:endParaRPr lang="en-US" sz="8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Moment-focused — one session up close: product details, comfort, how it feels.</a:t>
            </a:r>
            <a:endParaRPr lang="en-US" sz="8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Full-day flow — getting ready for work, a designated pump break, then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come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home, pouring milk and cleaning up.</a:t>
            </a:r>
            <a:endParaRPr lang="en-US" sz="85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Overnight / late shift — a calm, low-disruption routine during an overnight break or after a late shift.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77840" y="1316736"/>
            <a:ext cx="7315" cy="1399032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2" name="Text 10"/>
          <p:cNvSpPr/>
          <p:nvPr/>
        </p:nvSpPr>
        <p:spPr>
          <a:xfrm>
            <a:off x="5687546" y="1240895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00482" y="1430689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Full-Surface Warmth</a:t>
            </a:r>
            <a:endParaRPr lang="en-US" sz="750" b="1" dirty="0"/>
          </a:p>
        </p:txBody>
      </p:sp>
      <p:sp>
        <p:nvSpPr>
          <p:cNvPr id="18" name="Text 16"/>
          <p:cNvSpPr/>
          <p:nvPr/>
        </p:nvSpPr>
        <p:spPr>
          <a:xfrm>
            <a:off x="6089893" y="1679101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5-Zone Suction-Synced Massage</a:t>
            </a:r>
            <a:endParaRPr lang="en-US" sz="75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00445" y="1978835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DoubleFit™ Soft Dual-Layer Flan</a:t>
            </a: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</a:t>
            </a:r>
            <a:r>
              <a:rPr lang="zh-CN" altLang="en-US" sz="7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：helps provide a soft, steady fit as you move through your day.</a:t>
            </a:r>
            <a:endParaRPr lang="zh-CN" altLang="en-US" sz="7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05316" y="2458402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Format: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</a:t>
            </a:r>
            <a:r>
              <a:rPr lang="en-US" altLang="zh-CN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vlog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47" y="2916947"/>
            <a:ext cx="813816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916936"/>
            <a:ext cx="45720" cy="147218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5" name="Text 23"/>
          <p:cNvSpPr/>
          <p:nvPr/>
        </p:nvSpPr>
        <p:spPr>
          <a:xfrm>
            <a:off x="630936" y="299923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299008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 Wearable Pump 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11" y="3219600"/>
            <a:ext cx="4754880" cy="50657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healthcare-worker mom shares her personal experience and her reasons for recommending the product — framed as a product review, in an authentic first-person perspective.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77062" y="3734375"/>
            <a:ext cx="4449489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  <a:ln w="12700">
            <a:solidFill>
              <a:srgbClr val="B0662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143038" y="3789254"/>
            <a:ext cx="4462272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Speak from your own experience only. Do not frame your recommendation as professional or medical advice.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3008376"/>
            <a:ext cx="7315" cy="1289304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1" name="Text 29"/>
          <p:cNvSpPr/>
          <p:nvPr/>
        </p:nvSpPr>
        <p:spPr>
          <a:xfrm>
            <a:off x="5687556" y="2916972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00445" y="3122930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Full-Surface Warmth</a:t>
            </a:r>
            <a:endParaRPr lang="en-US" sz="750" b="1" dirty="0"/>
          </a:p>
        </p:txBody>
      </p:sp>
      <p:sp>
        <p:nvSpPr>
          <p:cNvPr id="37" name="Text 35"/>
          <p:cNvSpPr/>
          <p:nvPr/>
        </p:nvSpPr>
        <p:spPr>
          <a:xfrm>
            <a:off x="6089904" y="3365575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5-Zone Suction-Synced Massage</a:t>
            </a:r>
            <a:endParaRPr lang="en-US" sz="75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00445" y="3666300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DoubleFit™ Soft Dual-Layer Flange</a:t>
            </a:r>
            <a:r>
              <a:rPr lang="en-US" altLang="zh-CN" sz="7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:helps provide a soft, steady fit as you move through your day.</a:t>
            </a:r>
            <a:endParaRPr lang="en-US" altLang="zh-CN" sz="7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526573" y="4132240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First-person review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900" dirty="0"/>
          </a:p>
        </p:txBody>
      </p:sp>
      <p:sp>
        <p:nvSpPr>
          <p:cNvPr id="43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Topic Explained in details</a:t>
            </a:r>
            <a:endParaRPr lang="en-US" sz="2100" b="1" dirty="0">
              <a:solidFill>
                <a:srgbClr val="6A2B3A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6100445" y="2284651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App Control</a:t>
            </a:r>
            <a:r>
              <a:rPr lang="en-US" sz="7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makes it easy to log and review your pumping output over time.</a:t>
            </a:r>
            <a:endParaRPr lang="en-US" sz="7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5696664" y="2108756"/>
            <a:ext cx="347472" cy="146304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</a:t>
            </a:r>
            <a:endParaRPr lang="en-US" sz="700" dirty="0"/>
          </a:p>
        </p:txBody>
      </p:sp>
      <p:sp>
        <p:nvSpPr>
          <p:cNvPr id="51" name="Text 19"/>
          <p:cNvSpPr/>
          <p:nvPr/>
        </p:nvSpPr>
        <p:spPr>
          <a:xfrm>
            <a:off x="6089919" y="3969710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App Control</a:t>
            </a:r>
            <a:r>
              <a:rPr lang="en-US" sz="7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makes it easy to log and review your pumping output over time.</a:t>
            </a:r>
            <a:endParaRPr lang="en-US" sz="7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1" name="Text 37"/>
          <p:cNvSpPr/>
          <p:nvPr/>
        </p:nvSpPr>
        <p:spPr>
          <a:xfrm>
            <a:off x="5701665" y="3734382"/>
            <a:ext cx="347472" cy="146304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</a:t>
            </a:r>
            <a:endParaRPr lang="en-US" sz="700" dirty="0"/>
          </a:p>
        </p:txBody>
      </p:sp>
      <p:grpSp>
        <p:nvGrpSpPr>
          <p:cNvPr id="89" name="组合 88"/>
          <p:cNvGrpSpPr/>
          <p:nvPr userDrawn="1"/>
        </p:nvGrpSpPr>
        <p:grpSpPr>
          <a:xfrm>
            <a:off x="5697220" y="3122930"/>
            <a:ext cx="349885" cy="1008380"/>
            <a:chOff x="8972" y="4918"/>
            <a:chExt cx="551" cy="1588"/>
          </a:xfrm>
        </p:grpSpPr>
        <p:grpSp>
          <p:nvGrpSpPr>
            <p:cNvPr id="73" name="组合 72"/>
            <p:cNvGrpSpPr/>
            <p:nvPr userDrawn="1"/>
          </p:nvGrpSpPr>
          <p:grpSpPr>
            <a:xfrm>
              <a:off x="8972" y="6248"/>
              <a:ext cx="547" cy="259"/>
              <a:chOff x="11162" y="6086"/>
              <a:chExt cx="547" cy="259"/>
            </a:xfrm>
          </p:grpSpPr>
          <p:sp>
            <p:nvSpPr>
              <p:cNvPr id="74" name="Shape 33"/>
              <p:cNvSpPr/>
              <p:nvPr/>
            </p:nvSpPr>
            <p:spPr>
              <a:xfrm>
                <a:off x="11162" y="608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75" name="Text 34"/>
              <p:cNvSpPr/>
              <p:nvPr/>
            </p:nvSpPr>
            <p:spPr>
              <a:xfrm>
                <a:off x="11197" y="6138"/>
                <a:ext cx="477" cy="155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8975" y="4918"/>
              <a:ext cx="548" cy="1121"/>
              <a:chOff x="8975" y="4918"/>
              <a:chExt cx="548" cy="1121"/>
            </a:xfrm>
          </p:grpSpPr>
          <p:grpSp>
            <p:nvGrpSpPr>
              <p:cNvPr id="80" name="组合 79"/>
              <p:cNvGrpSpPr/>
              <p:nvPr userDrawn="1"/>
            </p:nvGrpSpPr>
            <p:grpSpPr>
              <a:xfrm>
                <a:off x="8976" y="4918"/>
                <a:ext cx="548" cy="259"/>
                <a:chOff x="8167" y="2362"/>
                <a:chExt cx="548" cy="259"/>
              </a:xfrm>
            </p:grpSpPr>
            <p:sp>
              <p:nvSpPr>
                <p:cNvPr id="81" name="Shape 12"/>
                <p:cNvSpPr/>
                <p:nvPr/>
              </p:nvSpPr>
              <p:spPr>
                <a:xfrm>
                  <a:off x="8167" y="2362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82" name="Text 13"/>
                <p:cNvSpPr/>
                <p:nvPr/>
              </p:nvSpPr>
              <p:spPr>
                <a:xfrm>
                  <a:off x="8167" y="2369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  <p:grpSp>
            <p:nvGrpSpPr>
              <p:cNvPr id="83" name="组合 82"/>
              <p:cNvGrpSpPr/>
              <p:nvPr userDrawn="1"/>
            </p:nvGrpSpPr>
            <p:grpSpPr>
              <a:xfrm>
                <a:off x="8976" y="5331"/>
                <a:ext cx="548" cy="259"/>
                <a:chOff x="8167" y="2362"/>
                <a:chExt cx="548" cy="259"/>
              </a:xfrm>
            </p:grpSpPr>
            <p:sp>
              <p:nvSpPr>
                <p:cNvPr id="84" name="Shape 12"/>
                <p:cNvSpPr/>
                <p:nvPr/>
              </p:nvSpPr>
              <p:spPr>
                <a:xfrm>
                  <a:off x="8167" y="2362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85" name="Text 13"/>
                <p:cNvSpPr/>
                <p:nvPr/>
              </p:nvSpPr>
              <p:spPr>
                <a:xfrm>
                  <a:off x="8167" y="2369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  <p:grpSp>
            <p:nvGrpSpPr>
              <p:cNvPr id="86" name="组合 85"/>
              <p:cNvGrpSpPr/>
              <p:nvPr userDrawn="1"/>
            </p:nvGrpSpPr>
            <p:grpSpPr>
              <a:xfrm>
                <a:off x="8975" y="5781"/>
                <a:ext cx="547" cy="259"/>
                <a:chOff x="11162" y="6086"/>
                <a:chExt cx="547" cy="259"/>
              </a:xfrm>
            </p:grpSpPr>
            <p:sp>
              <p:nvSpPr>
                <p:cNvPr id="87" name="Shape 33"/>
                <p:cNvSpPr/>
                <p:nvPr/>
              </p:nvSpPr>
              <p:spPr>
                <a:xfrm>
                  <a:off x="11162" y="6086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B27A7E"/>
                </a:solidFill>
              </p:spPr>
            </p:sp>
            <p:sp>
              <p:nvSpPr>
                <p:cNvPr id="88" name="Text 34"/>
                <p:cNvSpPr/>
                <p:nvPr/>
              </p:nvSpPr>
              <p:spPr>
                <a:xfrm>
                  <a:off x="11197" y="6138"/>
                  <a:ext cx="477" cy="155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P1</a:t>
                  </a:r>
                  <a:endParaRPr lang="en-US" sz="700" dirty="0"/>
                </a:p>
              </p:txBody>
            </p:sp>
          </p:grpSp>
        </p:grpSp>
      </p:grpSp>
      <p:grpSp>
        <p:nvGrpSpPr>
          <p:cNvPr id="90" name="组合 89"/>
          <p:cNvGrpSpPr/>
          <p:nvPr userDrawn="1"/>
        </p:nvGrpSpPr>
        <p:grpSpPr>
          <a:xfrm>
            <a:off x="5692140" y="1440087"/>
            <a:ext cx="349885" cy="1008380"/>
            <a:chOff x="8972" y="4918"/>
            <a:chExt cx="551" cy="1588"/>
          </a:xfrm>
        </p:grpSpPr>
        <p:grpSp>
          <p:nvGrpSpPr>
            <p:cNvPr id="91" name="组合 90"/>
            <p:cNvGrpSpPr/>
            <p:nvPr userDrawn="1"/>
          </p:nvGrpSpPr>
          <p:grpSpPr>
            <a:xfrm>
              <a:off x="8972" y="6248"/>
              <a:ext cx="547" cy="259"/>
              <a:chOff x="11162" y="6086"/>
              <a:chExt cx="547" cy="259"/>
            </a:xfrm>
          </p:grpSpPr>
          <p:sp>
            <p:nvSpPr>
              <p:cNvPr id="92" name="Shape 33"/>
              <p:cNvSpPr/>
              <p:nvPr/>
            </p:nvSpPr>
            <p:spPr>
              <a:xfrm>
                <a:off x="11162" y="608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93" name="Text 34"/>
              <p:cNvSpPr/>
              <p:nvPr/>
            </p:nvSpPr>
            <p:spPr>
              <a:xfrm>
                <a:off x="11197" y="6138"/>
                <a:ext cx="477" cy="155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grpSp>
          <p:nvGrpSpPr>
            <p:cNvPr id="94" name="组合 93"/>
            <p:cNvGrpSpPr/>
            <p:nvPr userDrawn="1"/>
          </p:nvGrpSpPr>
          <p:grpSpPr>
            <a:xfrm>
              <a:off x="8975" y="4918"/>
              <a:ext cx="548" cy="1121"/>
              <a:chOff x="8975" y="4918"/>
              <a:chExt cx="548" cy="1121"/>
            </a:xfrm>
          </p:grpSpPr>
          <p:grpSp>
            <p:nvGrpSpPr>
              <p:cNvPr id="95" name="组合 94"/>
              <p:cNvGrpSpPr/>
              <p:nvPr userDrawn="1"/>
            </p:nvGrpSpPr>
            <p:grpSpPr>
              <a:xfrm>
                <a:off x="8976" y="4918"/>
                <a:ext cx="548" cy="259"/>
                <a:chOff x="8167" y="2362"/>
                <a:chExt cx="548" cy="259"/>
              </a:xfrm>
            </p:grpSpPr>
            <p:sp>
              <p:nvSpPr>
                <p:cNvPr id="96" name="Shape 12"/>
                <p:cNvSpPr/>
                <p:nvPr/>
              </p:nvSpPr>
              <p:spPr>
                <a:xfrm>
                  <a:off x="8167" y="2362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97" name="Text 13"/>
                <p:cNvSpPr/>
                <p:nvPr/>
              </p:nvSpPr>
              <p:spPr>
                <a:xfrm>
                  <a:off x="8167" y="2369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  <p:grpSp>
            <p:nvGrpSpPr>
              <p:cNvPr id="98" name="组合 97"/>
              <p:cNvGrpSpPr/>
              <p:nvPr userDrawn="1"/>
            </p:nvGrpSpPr>
            <p:grpSpPr>
              <a:xfrm>
                <a:off x="8976" y="5331"/>
                <a:ext cx="548" cy="259"/>
                <a:chOff x="8167" y="2362"/>
                <a:chExt cx="548" cy="259"/>
              </a:xfrm>
            </p:grpSpPr>
            <p:sp>
              <p:nvSpPr>
                <p:cNvPr id="99" name="Shape 12"/>
                <p:cNvSpPr/>
                <p:nvPr/>
              </p:nvSpPr>
              <p:spPr>
                <a:xfrm>
                  <a:off x="8167" y="2362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100" name="Text 13"/>
                <p:cNvSpPr/>
                <p:nvPr/>
              </p:nvSpPr>
              <p:spPr>
                <a:xfrm>
                  <a:off x="8167" y="2369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  <p:grpSp>
            <p:nvGrpSpPr>
              <p:cNvPr id="101" name="组合 100"/>
              <p:cNvGrpSpPr/>
              <p:nvPr userDrawn="1"/>
            </p:nvGrpSpPr>
            <p:grpSpPr>
              <a:xfrm>
                <a:off x="8975" y="5781"/>
                <a:ext cx="547" cy="259"/>
                <a:chOff x="11162" y="6086"/>
                <a:chExt cx="547" cy="259"/>
              </a:xfrm>
            </p:grpSpPr>
            <p:sp>
              <p:nvSpPr>
                <p:cNvPr id="102" name="Shape 33"/>
                <p:cNvSpPr/>
                <p:nvPr/>
              </p:nvSpPr>
              <p:spPr>
                <a:xfrm>
                  <a:off x="11162" y="6086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B27A7E"/>
                </a:solidFill>
              </p:spPr>
            </p:sp>
            <p:sp>
              <p:nvSpPr>
                <p:cNvPr id="103" name="Text 34"/>
                <p:cNvSpPr/>
                <p:nvPr/>
              </p:nvSpPr>
              <p:spPr>
                <a:xfrm>
                  <a:off x="11197" y="6138"/>
                  <a:ext cx="477" cy="155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P1</a:t>
                  </a:r>
                  <a:endParaRPr lang="en-US" sz="700" dirty="0"/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messages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8138160" cy="2152498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215249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85805" y="133503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Pumping 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4820" y="1591060"/>
            <a:ext cx="4754880" cy="50657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healthcare professional or experienced pumping mom leads a practical Q&amp;A covering comfort, fit, finding a personal rhythm, and making pumping feel easier during a busy workday.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8484" y="2097652"/>
            <a:ext cx="4754880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  <a:ln w="12700">
            <a:solidFill>
              <a:srgbClr val="B0662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64810" y="2152516"/>
            <a:ext cx="4462272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Keep every answer on comfort and routine. Redirect any medical question to “please </a:t>
            </a:r>
            <a:r>
              <a:rPr lang="en-US" altLang="zh-CN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consult</a:t>
            </a:r>
            <a:r>
              <a:rPr lang="en-US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your own provider.”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77840" y="1316736"/>
            <a:ext cx="7315" cy="196961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4" name="Text 12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89877" y="1512652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Full-Surface Warmth</a:t>
            </a:r>
            <a:endParaRPr lang="en-US" sz="750" b="1" dirty="0"/>
          </a:p>
        </p:txBody>
      </p:sp>
      <p:sp>
        <p:nvSpPr>
          <p:cNvPr id="20" name="Text 18"/>
          <p:cNvSpPr/>
          <p:nvPr/>
        </p:nvSpPr>
        <p:spPr>
          <a:xfrm>
            <a:off x="6089877" y="1783964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5-Zone Suction-Synced Massage</a:t>
            </a:r>
            <a:endParaRPr lang="en-US" sz="75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9877" y="2097609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DoubleFit™ Soft Dual-Layer Flange</a:t>
            </a:r>
            <a:r>
              <a:rPr lang="zh-CN" alt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</a:t>
            </a:r>
            <a:r>
              <a:rPr lang="zh-CN" altLang="en-US" sz="7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helps provide a soft, steady fit as you move through your day.</a:t>
            </a:r>
            <a:endParaRPr lang="zh-CN" altLang="en-US" sz="7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19682" y="2829704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Q&amp;A / talking-head with product B-roll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900" dirty="0"/>
          </a:p>
        </p:txBody>
      </p:sp>
      <p:sp>
        <p:nvSpPr>
          <p:cNvPr id="43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Topic Explained in details</a:t>
            </a:r>
            <a:endParaRPr lang="en-US" sz="2100" b="1" dirty="0">
              <a:solidFill>
                <a:srgbClr val="6A2B3A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089888" y="2484882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Expert-Tuned Programs &amp; Personalized Rhythm</a:t>
            </a:r>
            <a:r>
              <a:rPr lang="en-US" sz="7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— lets you adjust and save a pumping rhythm that feels right for your routine.</a:t>
            </a:r>
            <a:endParaRPr lang="en-US" sz="7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9" name="组合 78"/>
          <p:cNvGrpSpPr/>
          <p:nvPr userDrawn="1"/>
        </p:nvGrpSpPr>
        <p:grpSpPr>
          <a:xfrm>
            <a:off x="5692140" y="1517287"/>
            <a:ext cx="347980" cy="1034415"/>
            <a:chOff x="8975" y="4918"/>
            <a:chExt cx="548" cy="1629"/>
          </a:xfrm>
        </p:grpSpPr>
        <p:grpSp>
          <p:nvGrpSpPr>
            <p:cNvPr id="63" name="组合 62"/>
            <p:cNvGrpSpPr/>
            <p:nvPr userDrawn="1"/>
          </p:nvGrpSpPr>
          <p:grpSpPr>
            <a:xfrm>
              <a:off x="8976" y="6289"/>
              <a:ext cx="548" cy="259"/>
              <a:chOff x="8630" y="3312"/>
              <a:chExt cx="548" cy="259"/>
            </a:xfrm>
          </p:grpSpPr>
          <p:sp>
            <p:nvSpPr>
              <p:cNvPr id="64" name="Shape 18"/>
              <p:cNvSpPr/>
              <p:nvPr/>
            </p:nvSpPr>
            <p:spPr>
              <a:xfrm>
                <a:off x="8630" y="3312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D9A8A3"/>
              </a:solidFill>
            </p:spPr>
          </p:sp>
          <p:sp>
            <p:nvSpPr>
              <p:cNvPr id="65" name="Text 19"/>
              <p:cNvSpPr/>
              <p:nvPr/>
            </p:nvSpPr>
            <p:spPr>
              <a:xfrm>
                <a:off x="8630" y="3326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P2</a:t>
                </a:r>
                <a:endParaRPr lang="en-US" sz="700" dirty="0"/>
              </a:p>
            </p:txBody>
          </p:sp>
        </p:grpSp>
        <p:grpSp>
          <p:nvGrpSpPr>
            <p:cNvPr id="67" name="组合 66"/>
            <p:cNvGrpSpPr/>
            <p:nvPr userDrawn="1"/>
          </p:nvGrpSpPr>
          <p:grpSpPr>
            <a:xfrm>
              <a:off x="8976" y="4918"/>
              <a:ext cx="548" cy="259"/>
              <a:chOff x="8167" y="2362"/>
              <a:chExt cx="548" cy="259"/>
            </a:xfrm>
          </p:grpSpPr>
          <p:sp>
            <p:nvSpPr>
              <p:cNvPr id="68" name="Shape 12"/>
              <p:cNvSpPr/>
              <p:nvPr/>
            </p:nvSpPr>
            <p:spPr>
              <a:xfrm>
                <a:off x="8167" y="2362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69" name="Text 13"/>
              <p:cNvSpPr/>
              <p:nvPr/>
            </p:nvSpPr>
            <p:spPr>
              <a:xfrm>
                <a:off x="8167" y="2369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70" name="组合 69"/>
            <p:cNvGrpSpPr/>
            <p:nvPr userDrawn="1"/>
          </p:nvGrpSpPr>
          <p:grpSpPr>
            <a:xfrm>
              <a:off x="8976" y="5331"/>
              <a:ext cx="548" cy="259"/>
              <a:chOff x="8167" y="2362"/>
              <a:chExt cx="548" cy="259"/>
            </a:xfrm>
          </p:grpSpPr>
          <p:sp>
            <p:nvSpPr>
              <p:cNvPr id="71" name="Shape 12"/>
              <p:cNvSpPr/>
              <p:nvPr/>
            </p:nvSpPr>
            <p:spPr>
              <a:xfrm>
                <a:off x="8167" y="2362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72" name="Text 13"/>
              <p:cNvSpPr/>
              <p:nvPr/>
            </p:nvSpPr>
            <p:spPr>
              <a:xfrm>
                <a:off x="8167" y="2369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8975" y="5781"/>
              <a:ext cx="547" cy="259"/>
              <a:chOff x="11162" y="6086"/>
              <a:chExt cx="547" cy="259"/>
            </a:xfrm>
          </p:grpSpPr>
          <p:sp>
            <p:nvSpPr>
              <p:cNvPr id="74" name="Shape 33"/>
              <p:cNvSpPr/>
              <p:nvPr/>
            </p:nvSpPr>
            <p:spPr>
              <a:xfrm>
                <a:off x="11162" y="608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75" name="Text 34"/>
              <p:cNvSpPr/>
              <p:nvPr/>
            </p:nvSpPr>
            <p:spPr>
              <a:xfrm>
                <a:off x="11197" y="6138"/>
                <a:ext cx="477" cy="155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REASONS TO BELIEVE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each message is true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do not need to recite these on camera. You do need to understand them, so your own words stay accurate.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280160"/>
          <a:ext cx="8138160" cy="301752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Core message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Reason to believe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Pumping can fit into a demanding shift without taking over the day.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Fully hands-free wearable design; one-press release and only 5 washable parts after use.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helps the body ease into pumping.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Three warmth levels (99°F / 102°F / 106°F) cover the full flange-to-breast contact area — not only a few isolated points.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 massage follows the pump, instead of buzzing through the whole session.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Surround massage activates on each pull and pauses on release, with 3 levels — not kneading or rolling motions.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 secure fit means less readjusting mid-shift.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 DoubleFit™ dual-layer flange combines soft, skin-friendly silicone contact with a more supportive, stable seal.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Guidelines &amp; Delivery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· Compliance · Timeline · Rights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USAGE &amp; DO’S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use it on camera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Getting these wrong is the most common reason a video has to be reshot.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931920" cy="2231119"/>
          </a:xfrm>
          <a:prstGeom prst="roundRect">
            <a:avLst>
              <a:gd name="adj" fmla="val 3488"/>
            </a:avLst>
          </a:prstGeom>
          <a:solidFill>
            <a:srgbClr val="FBF0E6"/>
          </a:solidFill>
        </p:spPr>
      </p:sp>
      <p:sp>
        <p:nvSpPr>
          <p:cNvPr id="7" name="Shape 5"/>
          <p:cNvSpPr/>
          <p:nvPr/>
        </p:nvSpPr>
        <p:spPr>
          <a:xfrm>
            <a:off x="502920" y="1261872"/>
            <a:ext cx="57995" cy="2231119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8" name="Text 6"/>
          <p:cNvSpPr/>
          <p:nvPr/>
        </p:nvSpPr>
        <p:spPr>
          <a:xfrm>
            <a:off x="685800" y="1353312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usage — safety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9873" y="1756522"/>
            <a:ext cx="3834938" cy="19916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Remove the motor before pouring milk.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Flange accessories are not microwave-safe. Do not sterilize them in a microwave.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lease use the product as demonstrated in the instruction video (link 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hlinkClick r:id="rId1"/>
              </a:rPr>
              <a:t>https://www.youtube.com/watch?v=YLZGj2YY2e4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 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your safety, do not use the breast pump while driving.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261872"/>
            <a:ext cx="4023360" cy="2231136"/>
          </a:xfrm>
          <a:prstGeom prst="roundRect">
            <a:avLst>
              <a:gd name="adj" fmla="val 2459"/>
            </a:avLst>
          </a:prstGeom>
          <a:solidFill>
            <a:srgbClr val="EAF0ED"/>
          </a:solidFill>
        </p:spPr>
      </p:sp>
      <p:sp>
        <p:nvSpPr>
          <p:cNvPr id="13" name="Shape 11"/>
          <p:cNvSpPr/>
          <p:nvPr/>
        </p:nvSpPr>
        <p:spPr>
          <a:xfrm>
            <a:off x="4617720" y="1261872"/>
            <a:ext cx="45720" cy="2231136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14" name="Text 12"/>
          <p:cNvSpPr/>
          <p:nvPr/>
        </p:nvSpPr>
        <p:spPr>
          <a:xfrm>
            <a:off x="4809744" y="1353312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85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Do’s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744" y="1627632"/>
            <a:ext cx="3703320" cy="17922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the full product name 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 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time you mention it.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 the product on camera so viewers can see what you are describing.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Rewrite the suggested lines in your own voice — accuracy matters, wording does not.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FTC Disclosure: clearly disclose sponsored content using #ad or Paid Partnership in a visible position within the content.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18" y="3575728"/>
            <a:ext cx="8138160" cy="1201993"/>
          </a:xfrm>
          <a:prstGeom prst="roundRect">
            <a:avLst>
              <a:gd name="adj" fmla="val 6579"/>
            </a:avLst>
          </a:prstGeom>
          <a:solidFill>
            <a:srgbClr val="FFF0EF"/>
          </a:solidFill>
        </p:spPr>
      </p:sp>
      <p:sp>
        <p:nvSpPr>
          <p:cNvPr id="17" name="Text 15"/>
          <p:cNvSpPr/>
          <p:nvPr/>
        </p:nvSpPr>
        <p:spPr>
          <a:xfrm>
            <a:off x="642835" y="3619304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Must do in every 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35" y="3838760"/>
            <a:ext cx="77724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Tag @momcozy_breastfeeding @momcozyofficial</a:t>
            </a:r>
            <a:endParaRPr lang="en-US" sz="850" dirty="0"/>
          </a:p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hashtags: #wearablepumps #momcozybreastpump #pumpingmom #pumpingtips #ad / paid partnership</a:t>
            </a:r>
            <a:endParaRPr lang="en-US" sz="8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Please include a natural, non-salesy CTA at the end of the video, such as “</a:t>
            </a:r>
            <a:r>
              <a:rPr lang="en-US" sz="850" b="1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Feel free to leave any questions in the comments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or “</a:t>
            </a:r>
            <a:r>
              <a:rPr lang="en-US" sz="850" b="1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 you’re interested, check out the link in my bio to learn more</a:t>
            </a:r>
            <a:r>
              <a:rPr lang="en-US" sz="850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 Please also add the product link below to your bio for tracking purposes:  </a:t>
            </a:r>
            <a:r>
              <a:rPr lang="en-US" altLang="zh-CN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达人推广自行替换</a:t>
            </a:r>
            <a:r>
              <a:rPr lang="en-US" altLang="zh-CN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altLang="zh-CN" sz="850" dirty="0">
              <a:solidFill>
                <a:srgbClr val="3B3538"/>
              </a:solidFill>
              <a:highlight>
                <a:srgbClr val="FFFF00"/>
              </a:highligh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900" dirty="0"/>
          </a:p>
        </p:txBody>
      </p:sp>
      <p:pic>
        <p:nvPicPr>
          <p:cNvPr id="20" name="图片 19" descr="upload_post_object_v2_827372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44" y="1178943"/>
            <a:ext cx="1435067" cy="797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 lines — not negotiable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video that crosses any of these cannot be published, and will have to be reshot.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</p:spPr>
      </p:sp>
      <p:sp>
        <p:nvSpPr>
          <p:cNvPr id="7" name="Shape 5"/>
          <p:cNvSpPr/>
          <p:nvPr/>
        </p:nvSpPr>
        <p:spPr>
          <a:xfrm>
            <a:off x="502920" y="1243584"/>
            <a:ext cx="45720" cy="512064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8" name="Text 6"/>
          <p:cNvSpPr/>
          <p:nvPr/>
        </p:nvSpPr>
        <p:spPr>
          <a:xfrm>
            <a:off x="630936" y="129844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89304"/>
            <a:ext cx="74980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claim or imply that Momcozy Wellness 1 can unclog, clear, or break up clogged milk ducts, relieve breast engorgement, treat, relieve, or prevent mastitis, increase milk supply, provide more complete emptying, guarantee faster let-down, or provide deep massage.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83794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</p:spPr>
      </p:sp>
      <p:sp>
        <p:nvSpPr>
          <p:cNvPr id="11" name="Shape 9"/>
          <p:cNvSpPr/>
          <p:nvPr/>
        </p:nvSpPr>
        <p:spPr>
          <a:xfrm>
            <a:off x="502920" y="1837944"/>
            <a:ext cx="45720" cy="512064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12" name="Text 10"/>
          <p:cNvSpPr/>
          <p:nvPr/>
        </p:nvSpPr>
        <p:spPr>
          <a:xfrm>
            <a:off x="630936" y="189280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74980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provide personalized medical advice. For persistent pain or discomfort, encourage viewers to consult a healthcare professional.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43230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</p:spPr>
      </p:sp>
      <p:sp>
        <p:nvSpPr>
          <p:cNvPr id="15" name="Shape 13"/>
          <p:cNvSpPr/>
          <p:nvPr/>
        </p:nvSpPr>
        <p:spPr>
          <a:xfrm>
            <a:off x="502920" y="2432304"/>
            <a:ext cx="45720" cy="512064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16" name="Text 14"/>
          <p:cNvSpPr/>
          <p:nvPr/>
        </p:nvSpPr>
        <p:spPr>
          <a:xfrm>
            <a:off x="630936" y="248716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4980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mention or compare competitor brands or products. You may only refer to “my old pump.”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02666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</p:spPr>
      </p:sp>
      <p:sp>
        <p:nvSpPr>
          <p:cNvPr id="19" name="Shape 17"/>
          <p:cNvSpPr/>
          <p:nvPr/>
        </p:nvSpPr>
        <p:spPr>
          <a:xfrm>
            <a:off x="502920" y="3026664"/>
            <a:ext cx="45720" cy="512064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20" name="Text 18"/>
          <p:cNvSpPr/>
          <p:nvPr/>
        </p:nvSpPr>
        <p:spPr>
          <a:xfrm>
            <a:off x="630936" y="30815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072384"/>
            <a:ext cx="74980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include alcohol, guns, violence, blood, or drugs.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621024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FBF0E6"/>
          </a:solidFill>
        </p:spPr>
      </p:sp>
      <p:sp>
        <p:nvSpPr>
          <p:cNvPr id="23" name="Shape 21"/>
          <p:cNvSpPr/>
          <p:nvPr/>
        </p:nvSpPr>
        <p:spPr>
          <a:xfrm>
            <a:off x="502920" y="3621024"/>
            <a:ext cx="45720" cy="512064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24" name="Text 22"/>
          <p:cNvSpPr/>
          <p:nvPr/>
        </p:nvSpPr>
        <p:spPr>
          <a:xfrm>
            <a:off x="630936" y="367588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60135" y="3675869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 not show you are driving while pumping in front of camera</a:t>
            </a:r>
            <a:endParaRPr lang="en-US" sz="85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TIMELINE &amp; RIGHTS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Delivery, timing and usage rights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Tell us early if anything is going to slip.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02920" y="1261872"/>
          <a:ext cx="8138160" cy="1920240"/>
        </p:xfrm>
        <a:graphic>
          <a:graphicData uri="http://schemas.openxmlformats.org/drawingml/2006/table">
            <a:tbl>
              <a:tblPr/>
              <a:tblGrid>
                <a:gridCol w="1325880"/>
                <a:gridCol w="3246120"/>
                <a:gridCol w="2148840"/>
                <a:gridCol w="141732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Deliverable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Due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Owner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Product received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Shipment confirmation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Draft submission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First cut of the video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Within 14 days of receiving the product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Feedback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Revision notes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Final delivery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Final edit + raw footage (no subtitles / end cards)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Publish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Live post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As agreed via email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Reporting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Backend screenshots / performance data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310128"/>
            <a:ext cx="8138160" cy="1097280"/>
          </a:xfrm>
          <a:prstGeom prst="roundRect">
            <a:avLst>
              <a:gd name="adj" fmla="val 4167"/>
            </a:avLst>
          </a:prstGeom>
          <a:solidFill>
            <a:srgbClr val="FFF0EF"/>
          </a:solidFill>
        </p:spPr>
      </p:sp>
      <p:sp>
        <p:nvSpPr>
          <p:cNvPr id="8" name="Text 5"/>
          <p:cNvSpPr/>
          <p:nvPr/>
        </p:nvSpPr>
        <p:spPr>
          <a:xfrm>
            <a:off x="685800" y="3383280"/>
            <a:ext cx="4572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rights &amp; confidentiality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602736"/>
            <a:ext cx="77724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Momcozy retains full usage and secondary editing rights for 3 months across owned and paid channels, including TikTok Spark Ads, Instagram Ads, website, social media, paid advertising, and email marketing.</a:t>
            </a:r>
            <a:endParaRPr lang="en-US" sz="8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Please provide the final edited video, raw footage (without subtitles or end cards), and allow Momcozy to use your photo and bio when reposting the content.</a:t>
            </a:r>
            <a:endParaRPr lang="en-US" sz="8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All information shared by Momcozy is confidential and may not be disclosed to any third party without prior written consent from Momcozy.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8A3A4C"/>
          </a:solidFill>
        </p:spPr>
      </p:sp>
      <p:sp>
        <p:nvSpPr>
          <p:cNvPr id="4" name="Shape 2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rgbClr val="B27A7E"/>
          </a:solidFill>
        </p:spPr>
      </p:sp>
      <p:sp>
        <p:nvSpPr>
          <p:cNvPr id="5" name="Shape 3"/>
          <p:cNvSpPr/>
          <p:nvPr/>
        </p:nvSpPr>
        <p:spPr>
          <a:xfrm>
            <a:off x="7772400" y="3406140"/>
            <a:ext cx="2560320" cy="2560320"/>
          </a:xfrm>
          <a:prstGeom prst="ellipse">
            <a:avLst/>
          </a:prstGeom>
          <a:solidFill>
            <a:srgbClr val="D9A8A3"/>
          </a:solidFill>
        </p:spPr>
      </p:sp>
      <p:sp>
        <p:nvSpPr>
          <p:cNvPr id="6" name="Text 4"/>
          <p:cNvSpPr/>
          <p:nvPr/>
        </p:nvSpPr>
        <p:spPr>
          <a:xfrm>
            <a:off x="502920" y="173736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505456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We’re glad you’re part of this </a:t>
            </a:r>
            <a:r>
              <a:rPr lang="en-US" altLang="zh-CN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campaign</a:t>
            </a:r>
            <a:r>
              <a:rPr lang="en-US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962656"/>
            <a:ext cx="1005840" cy="32004"/>
          </a:xfrm>
          <a:prstGeom prst="rect">
            <a:avLst/>
          </a:prstGeom>
          <a:solidFill>
            <a:srgbClr val="F1DACE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11444</Words>
  <Application>WPS Office WWO_feishu_20241028185521-3ecd29d096</Application>
  <PresentationFormat>On-screen Show (16:9)</PresentationFormat>
  <Paragraphs>554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Arial</vt:lpstr>
      <vt:lpstr>等线</vt:lpstr>
      <vt:lpstr>汉仪中等线KW</vt:lpstr>
      <vt:lpstr>等线</vt:lpstr>
      <vt:lpstr>等线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Momcozy Wellness 1 — Creator Brief (Healthcare-Worker Moms)</dc:title>
  <dc:creator>PptxGenJS</dc:creator>
  <dc:subject>PptxGenJS Presentation</dc:subject>
  <cp:lastModifiedBy>PptxGenJS</cp:lastModifiedBy>
  <dcterms:created xsi:type="dcterms:W3CDTF">2026-08-11T02:14:31Z</dcterms:created>
  <dcterms:modified xsi:type="dcterms:W3CDTF">2026-08-11T02:14:31Z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51B50CFAD90E4149EF35746AC03B4D46_42</vt:lpwstr>
  </property>
  <property fmtid="{D5CDD505-2E9C-101B-9397-08002B2CF9AE}" pid="3" name="KSOProductBuildVer">
    <vt:lpwstr>2052-0.0.0.0</vt:lpwstr>
  </property>
</Properties>
</file>