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4" r:id="rId7"/>
    <p:sldId id="276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90" r:id="rId18"/>
    <p:sldId id="271" r:id="rId19"/>
    <p:sldId id="272" r:id="rId20"/>
    <p:sldId id="273" r:id="rId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不用动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making pumping easier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hyperlink" Target="https://momcozy.com/products/momcozy-wellness-1-warm-massage-wearable-breast-pump-w1?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hyperlink" Target="https://www.youtube.com/watch?v=YLZGj2YY2e4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Shape 1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8A3A4C"/>
          </a:solidFill>
        </p:spPr>
      </p:sp>
      <p:sp>
        <p:nvSpPr>
          <p:cNvPr id="4" name="Shape 2"/>
          <p:cNvSpPr/>
          <p:nvPr/>
        </p:nvSpPr>
        <p:spPr>
          <a:xfrm>
            <a:off x="6766560" y="-1371600"/>
            <a:ext cx="3840480" cy="3840480"/>
          </a:xfrm>
          <a:prstGeom prst="ellipse">
            <a:avLst/>
          </a:prstGeom>
          <a:solidFill>
            <a:srgbClr val="B27A7E"/>
          </a:solidFill>
        </p:spPr>
      </p:sp>
      <p:sp>
        <p:nvSpPr>
          <p:cNvPr id="5" name="Shape 3"/>
          <p:cNvSpPr/>
          <p:nvPr/>
        </p:nvSpPr>
        <p:spPr>
          <a:xfrm>
            <a:off x="7772400" y="3406140"/>
            <a:ext cx="2560320" cy="2560320"/>
          </a:xfrm>
          <a:prstGeom prst="ellipse">
            <a:avLst/>
          </a:prstGeom>
          <a:solidFill>
            <a:srgbClr val="D9A8A3"/>
          </a:solidFill>
        </p:spPr>
      </p:sp>
      <p:sp>
        <p:nvSpPr>
          <p:cNvPr id="6" name="Text 4"/>
          <p:cNvSpPr/>
          <p:nvPr/>
        </p:nvSpPr>
        <p:spPr>
          <a:xfrm>
            <a:off x="502920" y="1097280"/>
            <a:ext cx="6400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MOMCOZY  ·  CREATOR CONTENT BRIEF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408176"/>
            <a:ext cx="65836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Momcozy Wellness 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6583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Industry First* Warm-Massage Breast Pump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523744"/>
            <a:ext cx="3291840" cy="365760"/>
          </a:xfrm>
          <a:prstGeom prst="roundRect">
            <a:avLst>
              <a:gd name="adj" fmla="val 12500"/>
            </a:avLst>
          </a:prstGeom>
          <a:solidFill>
            <a:srgbClr val="8A3A4C"/>
          </a:solidFill>
          <a:ln w="9525">
            <a:solidFill>
              <a:srgbClr val="B27A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87752"/>
            <a:ext cx="32918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WORKING MOMS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054096"/>
            <a:ext cx="1005840" cy="32004"/>
          </a:xfrm>
          <a:prstGeom prst="rect">
            <a:avLst/>
          </a:prstGeom>
          <a:solidFill>
            <a:srgbClr val="F1DACE"/>
          </a:solidFill>
        </p:spPr>
      </p:sp>
      <p:sp>
        <p:nvSpPr>
          <p:cNvPr id="12" name="Text 10"/>
          <p:cNvSpPr/>
          <p:nvPr/>
        </p:nvSpPr>
        <p:spPr>
          <a:xfrm>
            <a:off x="502920" y="3236976"/>
            <a:ext cx="5852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Elevated Comfort. High Performance, Naturally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357116"/>
            <a:ext cx="6492240" cy="365760"/>
          </a:xfrm>
          <a:prstGeom prst="roundRect">
            <a:avLst>
              <a:gd name="adj" fmla="val 12500"/>
            </a:avLst>
          </a:prstGeom>
          <a:solidFill>
            <a:srgbClr val="8A3A4C"/>
          </a:solidFill>
          <a:ln w="9525">
            <a:solidFill>
              <a:srgbClr val="B27A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421124"/>
            <a:ext cx="6217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Confidential — all information here is under embargo. Do not share externally.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" y="4777740"/>
            <a:ext cx="7589520" cy="219456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*Based on available market data as of November 2025.</a:t>
            </a:r>
            <a:endParaRPr lang="en-US" sz="7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What’s in this brief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Three parts. Part 2 is written for you specifically; Parts 1 and 3 are the same for every creator on this campaign.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81381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44752"/>
            <a:ext cx="45720" cy="82296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8" name="Text 6"/>
          <p:cNvSpPr/>
          <p:nvPr/>
        </p:nvSpPr>
        <p:spPr>
          <a:xfrm>
            <a:off x="704088" y="1673352"/>
            <a:ext cx="749808" cy="38404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27048" y="1627632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Information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27048" y="1938528"/>
            <a:ext cx="6400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is · Selling points by priority · Specs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414016"/>
            <a:ext cx="81381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414016"/>
            <a:ext cx="45720" cy="822960"/>
          </a:xfrm>
          <a:prstGeom prst="rect">
            <a:avLst/>
          </a:prstGeom>
          <a:solidFill>
            <a:srgbClr val="B27A7E"/>
          </a:solidFill>
        </p:spPr>
      </p:sp>
      <p:sp>
        <p:nvSpPr>
          <p:cNvPr id="13" name="Text 11"/>
          <p:cNvSpPr/>
          <p:nvPr/>
        </p:nvSpPr>
        <p:spPr>
          <a:xfrm>
            <a:off x="704088" y="2642616"/>
            <a:ext cx="749808" cy="38404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27048" y="2596896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Content Brief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27048" y="2907792"/>
            <a:ext cx="6400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Your audience · Video topics · Key messages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383280"/>
            <a:ext cx="81381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383280"/>
            <a:ext cx="45720" cy="82296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18" name="Text 16"/>
          <p:cNvSpPr/>
          <p:nvPr/>
        </p:nvSpPr>
        <p:spPr>
          <a:xfrm>
            <a:off x="704088" y="3611880"/>
            <a:ext cx="749808" cy="38404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27048" y="3566160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Guidelines &amp; Delivery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27048" y="3877056"/>
            <a:ext cx="6400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Usage · Compliance · Timeline · Rights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B27A7E"/>
          </a:solidFill>
        </p:spPr>
      </p:sp>
      <p:sp>
        <p:nvSpPr>
          <p:cNvPr id="4" name="Shape 2"/>
          <p:cNvSpPr/>
          <p:nvPr/>
        </p:nvSpPr>
        <p:spPr>
          <a:xfrm>
            <a:off x="-1097280" y="2217420"/>
            <a:ext cx="4206240" cy="4206240"/>
          </a:xfrm>
          <a:prstGeom prst="ellipse">
            <a:avLst/>
          </a:prstGeom>
          <a:solidFill>
            <a:srgbClr val="8A3A4C"/>
          </a:solidFill>
        </p:spPr>
      </p:sp>
      <p:sp>
        <p:nvSpPr>
          <p:cNvPr id="5" name="Text 3"/>
          <p:cNvSpPr/>
          <p:nvPr/>
        </p:nvSpPr>
        <p:spPr>
          <a:xfrm>
            <a:off x="502920" y="1691640"/>
            <a:ext cx="1828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502920" y="2724912"/>
            <a:ext cx="6400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Information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3255264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is, what it does, and what you can say about it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Momcozy Wellness 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Industry First* Warm-Massage Breast Pump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370332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9A8A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389120" y="1261872"/>
            <a:ext cx="4251960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Momcozy Wellness 1 is a wearable breast pump built to make pumping feel warmer, gentler, and just easier to fit into real life.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425196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4480560" y="2039112"/>
            <a:ext cx="114300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Slogan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0" y="2039112"/>
            <a:ext cx="28803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Elevated Comfort. High Performance, Naturally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2322576"/>
            <a:ext cx="425196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4480560" y="2350008"/>
            <a:ext cx="114300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MSRP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0" y="2350008"/>
            <a:ext cx="28803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$329.99 USD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0" y="2633472"/>
            <a:ext cx="425196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4480560" y="2660904"/>
            <a:ext cx="114300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Official link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0" y="2660904"/>
            <a:ext cx="28803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https://momcozy.com/products/momcozy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wellness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1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warm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massage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wearable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breast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pump</a:t>
            </a:r>
            <a:r>
              <a:rPr lang="zh-CN" altLang="en-US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-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hlinkClick r:id="rId1"/>
              </a:rPr>
              <a:t>w1?</a:t>
            </a:r>
            <a:r>
              <a:rPr lang="en-US" altLang="zh-CN" sz="8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389120" y="2944368"/>
            <a:ext cx="425196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Text 18"/>
          <p:cNvSpPr/>
          <p:nvPr/>
        </p:nvSpPr>
        <p:spPr>
          <a:xfrm>
            <a:off x="4480560" y="2971800"/>
            <a:ext cx="114300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Launch / region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0" y="2971800"/>
            <a:ext cx="2880360" cy="210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95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 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328416"/>
            <a:ext cx="4572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SUGGESTED USE SCENARIOS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3566160"/>
            <a:ext cx="191109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566160"/>
            <a:ext cx="45720" cy="841248"/>
          </a:xfrm>
          <a:prstGeom prst="rect">
            <a:avLst/>
          </a:prstGeom>
          <a:solidFill>
            <a:srgbClr val="6B857B"/>
          </a:solidFill>
        </p:spPr>
      </p:sp>
      <p:sp>
        <p:nvSpPr>
          <p:cNvPr id="25" name="Text 23"/>
          <p:cNvSpPr/>
          <p:nvPr/>
        </p:nvSpPr>
        <p:spPr>
          <a:xfrm>
            <a:off x="649224" y="3639312"/>
            <a:ext cx="16550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At-Home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" y="3877056"/>
            <a:ext cx="1655064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Pump while caring for baby and managing everyday life.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78608" y="3566160"/>
            <a:ext cx="191109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78608" y="3566160"/>
            <a:ext cx="45720" cy="841248"/>
          </a:xfrm>
          <a:prstGeom prst="rect">
            <a:avLst/>
          </a:prstGeom>
          <a:solidFill>
            <a:srgbClr val="6B857B"/>
          </a:solidFill>
        </p:spPr>
      </p:sp>
      <p:sp>
        <p:nvSpPr>
          <p:cNvPr id="29" name="Text 27"/>
          <p:cNvSpPr/>
          <p:nvPr/>
        </p:nvSpPr>
        <p:spPr>
          <a:xfrm>
            <a:off x="2724912" y="3639312"/>
            <a:ext cx="16550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Workday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24912" y="3877056"/>
            <a:ext cx="1755625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Pump discreetly </a:t>
            </a:r>
            <a:r>
              <a:rPr lang="en-US" altLang="zh-CN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and effectively</a:t>
            </a: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throughout the workday.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54296" y="3566160"/>
            <a:ext cx="191109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54296" y="3566160"/>
            <a:ext cx="45720" cy="841248"/>
          </a:xfrm>
          <a:prstGeom prst="rect">
            <a:avLst/>
          </a:prstGeom>
          <a:solidFill>
            <a:srgbClr val="6B857B"/>
          </a:solidFill>
        </p:spPr>
      </p:sp>
      <p:sp>
        <p:nvSpPr>
          <p:cNvPr id="33" name="Text 31"/>
          <p:cNvSpPr/>
          <p:nvPr/>
        </p:nvSpPr>
        <p:spPr>
          <a:xfrm>
            <a:off x="4800600" y="3639312"/>
            <a:ext cx="16550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 the Go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877056"/>
            <a:ext cx="1655064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Pump while commuting, shopping, or running errands.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29984" y="3566160"/>
            <a:ext cx="191109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29984" y="3566160"/>
            <a:ext cx="45720" cy="841248"/>
          </a:xfrm>
          <a:prstGeom prst="rect">
            <a:avLst/>
          </a:prstGeom>
          <a:solidFill>
            <a:srgbClr val="6B857B"/>
          </a:solidFill>
        </p:spPr>
      </p:sp>
      <p:sp>
        <p:nvSpPr>
          <p:cNvPr id="37" name="Text 35"/>
          <p:cNvSpPr/>
          <p:nvPr/>
        </p:nvSpPr>
        <p:spPr>
          <a:xfrm>
            <a:off x="6876288" y="3639312"/>
            <a:ext cx="165506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Nighttime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76288" y="3877056"/>
            <a:ext cx="1655064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Pump </a:t>
            </a:r>
            <a:r>
              <a:rPr lang="en-US" altLang="zh-CN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comfortably</a:t>
            </a: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with minimal disruption.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2920" y="4777740"/>
            <a:ext cx="7589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46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*Based on available market data as of November 2025.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900" dirty="0"/>
          </a:p>
        </p:txBody>
      </p:sp>
      <p:pic>
        <p:nvPicPr>
          <p:cNvPr id="41" name="图片 40" descr="upload_post_object_v2_16514057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460" y="1296796"/>
            <a:ext cx="1443025" cy="1868666"/>
          </a:xfrm>
          <a:prstGeom prst="rect">
            <a:avLst/>
          </a:prstGeom>
        </p:spPr>
      </p:pic>
      <p:pic>
        <p:nvPicPr>
          <p:cNvPr id="42" name="图片 41" descr="upload_post_object_v2_3511826724"/>
          <p:cNvPicPr>
            <a:picLocks noChangeAspect="1"/>
          </p:cNvPicPr>
          <p:nvPr/>
        </p:nvPicPr>
        <p:blipFill>
          <a:blip r:embed="rId3"/>
          <a:srcRect b="25990"/>
          <a:stretch>
            <a:fillRect/>
          </a:stretch>
        </p:blipFill>
        <p:spPr>
          <a:xfrm>
            <a:off x="548630" y="1451452"/>
            <a:ext cx="2110858" cy="15593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SELLING POINTS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Selling points, by priority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P0 messages must appear. P1 and P2 are selectable — choose one of each. P3 is optional.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02920" y="1225296"/>
          <a:ext cx="8138160" cy="2917190"/>
        </p:xfrm>
        <a:graphic>
          <a:graphicData uri="http://schemas.openxmlformats.org/drawingml/2006/table">
            <a:tbl>
              <a:tblPr/>
              <a:tblGrid>
                <a:gridCol w="502920"/>
                <a:gridCol w="1832089"/>
                <a:gridCol w="5803151"/>
              </a:tblGrid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Tier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Key message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What this means for moms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P0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Full-Surface Warmth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Three adjustable warmth levels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cover the </a:t>
                      </a: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full flange-to-breast contact area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, helping you feel more relaxed before pumping starts.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P0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5-Zone Suction-Synced Massage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Five massage zones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pulse when the pump pulls and pause when it releases, instead of buzzing continuously throughout the session..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P1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DoubleFit™ Soft Dual-Layer Flange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The soft inner layer sits gently against your skin, while the supportive outer layer helps keep a steady seal as you move.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</a:t>
                      </a:r>
                      <a:r>
                        <a:rPr lang="en-US" altLang="zh-CN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A7E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Smart App Control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Start, pause, adjust suction levels, and log your milk output—all from your phone.</a:t>
                      </a:r>
                      <a:endParaRPr lang="en-US" sz="750" dirty="0">
                        <a:solidFill>
                          <a:srgbClr val="3B3538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</a:t>
                      </a:r>
                      <a:r>
                        <a:rPr lang="en-US" altLang="zh-CN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A7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Easy to Use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One-press release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makes removal easier, and only</a:t>
                      </a: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five washable parts 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after use.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65176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P2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8A3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Transparent Top &amp; 6 oz Collector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The</a:t>
                      </a: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transparent top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lets you check nipple alignment and milk flow without removing the pump, while the</a:t>
                      </a: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6 oz collector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 supports longer sessions.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P2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8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Expert-Tuned Programs &amp; Personalized Rhythm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Start with an expert-tuned program, then adjust warmth, massage, suction, and modes in the App and save your preferred rhythm.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</a:t>
                      </a:r>
                      <a:r>
                        <a:rPr lang="en-US" altLang="zh-CN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8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SoftPulse Baby-Like Suction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Small, steady micro pulses feel more like a </a:t>
                      </a: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baby’s natural suck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—gentler on the breast, with up to 295 mmHg strength available when needed.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P3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4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Auto Shutoff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Massage stops automatically after 5 minutes and warmth after 15 minutes by default, so you do not need to keep checking the clock.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P3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4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Long Battery Use</a:t>
                      </a:r>
                      <a:endParaRPr lang="en-US" sz="750" b="1" dirty="0">
                        <a:solidFill>
                          <a:srgbClr val="6A2B3A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Get up to </a:t>
                      </a:r>
                      <a:r>
                        <a:rPr lang="en-US" sz="75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10 pumping-only sessions </a:t>
                      </a:r>
                      <a:r>
                        <a:rPr lang="en-US" sz="7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on one charge, or up to 6 with warmth and massage on, with massage noise below 50 dB.</a:t>
                      </a:r>
                      <a:endParaRPr lang="en-US" sz="7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SPECIFICATIONS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Specs you may be asked about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Facts only. None of these numbers may be turned into a performance or health claim.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02890" y="1508535"/>
          <a:ext cx="8138160" cy="1975104"/>
        </p:xfrm>
        <a:graphic>
          <a:graphicData uri="http://schemas.openxmlformats.org/drawingml/2006/table">
            <a:tbl>
              <a:tblPr/>
              <a:tblGrid>
                <a:gridCol w="1417320"/>
                <a:gridCol w="2651760"/>
                <a:gridCol w="1417320"/>
                <a:gridCol w="265176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Item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Spec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Item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Spec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Warmth levels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99°F / 102°F / 106°F (3 levels)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Massage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Surround massage, 3 levels, synced to suction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Max suction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Up to 295 mmHg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Collector capacity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 oz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Parts to wash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 milk-contact parts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Battery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Up to 10 sessions (pump only) / up to 6 (warmth + massage on)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Noise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Below 50 dB with massage on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Auto shutoff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Massage 5 min / warmth 15 min (default)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App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Momcozy App — warmth, massage, suction, modes, manual output log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Flange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DoubleFit™ soft dual-layer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502920" y="3931920"/>
            <a:ext cx="8138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Never phrase a spec as an outcome. “Three warmth levels” is a fact. “Warms you up so you pump more” is a claim — see the red lines in Part 3.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B27A7E"/>
          </a:solidFill>
        </p:spPr>
      </p:sp>
      <p:sp>
        <p:nvSpPr>
          <p:cNvPr id="4" name="Shape 2"/>
          <p:cNvSpPr/>
          <p:nvPr/>
        </p:nvSpPr>
        <p:spPr>
          <a:xfrm>
            <a:off x="-1097280" y="2217420"/>
            <a:ext cx="4206240" cy="4206240"/>
          </a:xfrm>
          <a:prstGeom prst="ellipse">
            <a:avLst/>
          </a:prstGeom>
          <a:solidFill>
            <a:srgbClr val="8A3A4C"/>
          </a:solidFill>
        </p:spPr>
      </p:sp>
      <p:sp>
        <p:nvSpPr>
          <p:cNvPr id="5" name="Text 3"/>
          <p:cNvSpPr/>
          <p:nvPr/>
        </p:nvSpPr>
        <p:spPr>
          <a:xfrm>
            <a:off x="502920" y="1691640"/>
            <a:ext cx="1828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502920" y="2724912"/>
            <a:ext cx="6400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Content Brief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3255264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Working Moms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YOUR AUDIENCE &amp; 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Who you’re speaking to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Everything in Part 2 assumes this context. If it does not match your channel, </a:t>
            </a:r>
            <a:r>
              <a:rPr lang="en-US" altLang="zh-CN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please let</a:t>
            </a: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us </a:t>
            </a:r>
            <a:r>
              <a:rPr lang="en-US" altLang="zh-CN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know </a:t>
            </a: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before you film.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3246120" cy="3145536"/>
          </a:xfrm>
          <a:prstGeom prst="roundRect">
            <a:avLst>
              <a:gd name="adj" fmla="val 1453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61872"/>
            <a:ext cx="45720" cy="314553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8" name="Text 6"/>
          <p:cNvSpPr/>
          <p:nvPr/>
        </p:nvSpPr>
        <p:spPr>
          <a:xfrm>
            <a:off x="685800" y="1353312"/>
            <a:ext cx="2834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CREATOR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91056"/>
            <a:ext cx="288036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Moms who have returned to work and pump during the workday — at a desk, in a lactation room, or between meetings.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77640" y="1261872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TO SHOW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77640" y="1536192"/>
            <a:ext cx="173736" cy="173736"/>
          </a:xfrm>
          <a:prstGeom prst="ellipse">
            <a:avLst/>
          </a:prstGeom>
          <a:solidFill>
            <a:srgbClr val="6A2B3A"/>
          </a:solidFill>
        </p:spPr>
      </p:sp>
      <p:sp>
        <p:nvSpPr>
          <p:cNvPr id="12" name="Text 10"/>
          <p:cNvSpPr/>
          <p:nvPr/>
        </p:nvSpPr>
        <p:spPr>
          <a:xfrm>
            <a:off x="3977640" y="1549908"/>
            <a:ext cx="173736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242816" y="1499616"/>
            <a:ext cx="4389120" cy="65471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positioning for this creator type: the Warm-Massage Wearable Breast Pump designed to help working moms shift from workplace tension into a calmer, more manageable pumping routine — without putting the whole day on pause.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77640" y="2282342"/>
            <a:ext cx="173736" cy="173736"/>
          </a:xfrm>
          <a:prstGeom prst="ellipse">
            <a:avLst/>
          </a:prstGeom>
          <a:solidFill>
            <a:srgbClr val="6A2B3A"/>
          </a:solidFill>
        </p:spPr>
      </p:sp>
      <p:sp>
        <p:nvSpPr>
          <p:cNvPr id="15" name="Text 13"/>
          <p:cNvSpPr/>
          <p:nvPr/>
        </p:nvSpPr>
        <p:spPr>
          <a:xfrm>
            <a:off x="3977640" y="2296058"/>
            <a:ext cx="173736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42816" y="2245766"/>
            <a:ext cx="4389120" cy="50474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Show pumping inside a real workday, not a staged one. The interesting part is the transition — closing a laptop, finding twenty minutes, and coming back.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77640" y="2878531"/>
            <a:ext cx="173736" cy="173736"/>
          </a:xfrm>
          <a:prstGeom prst="ellipse">
            <a:avLst/>
          </a:prstGeom>
          <a:solidFill>
            <a:srgbClr val="6A2B3A"/>
          </a:solidFill>
        </p:spPr>
      </p:sp>
      <p:sp>
        <p:nvSpPr>
          <p:cNvPr id="18" name="Text 16"/>
          <p:cNvSpPr/>
          <p:nvPr/>
        </p:nvSpPr>
        <p:spPr>
          <a:xfrm>
            <a:off x="3977640" y="2892247"/>
            <a:ext cx="173736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242816" y="2841955"/>
            <a:ext cx="4389120" cy="354787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Keep it experience-led. Do not frame warmth or massage as stress relief, therapy, or a treatment for anything.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VIDEO TOPICS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2100" b="1" dirty="0">
                <a:solidFill>
                  <a:srgbClr val="6A2B3A"/>
                </a:solidFill>
              </a:rPr>
              <a:t>Content Directions for Reference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8138160" cy="512064"/>
          </a:xfrm>
          <a:prstGeom prst="roundRect">
            <a:avLst>
              <a:gd name="adj" fmla="val 8929"/>
            </a:avLst>
          </a:prstGeom>
          <a:solidFill>
            <a:srgbClr val="6A2B3A"/>
          </a:solidFill>
        </p:spPr>
      </p:sp>
      <p:sp>
        <p:nvSpPr>
          <p:cNvPr id="6" name="Text 4"/>
          <p:cNvSpPr/>
          <p:nvPr/>
        </p:nvSpPr>
        <p:spPr>
          <a:xfrm>
            <a:off x="667512" y="1188720"/>
            <a:ext cx="2560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8408" y="1124712"/>
            <a:ext cx="7479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Pick the one topic that fits your channel best. You know your audience better than we do — choose the angle you can genuinely pull off in your own life, and </a:t>
            </a:r>
            <a:r>
              <a:rPr lang="en-US" altLang="zh-CN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authetic and organic tone to deliver the content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700784"/>
            <a:ext cx="8138160" cy="479146"/>
          </a:xfrm>
          <a:prstGeom prst="roundRect">
            <a:avLst>
              <a:gd name="adj" fmla="val 9542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00784"/>
            <a:ext cx="45720" cy="47914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10" name="Text 8"/>
          <p:cNvSpPr/>
          <p:nvPr/>
        </p:nvSpPr>
        <p:spPr>
          <a:xfrm>
            <a:off x="649224" y="1839773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33272" y="1684325"/>
            <a:ext cx="7498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Pumping Between Two Meetings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33272" y="1922069"/>
            <a:ext cx="7498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 Had 20 Minutes Between Meetings — Here’s My Pumping Reset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253082"/>
            <a:ext cx="8138160" cy="479146"/>
          </a:xfrm>
          <a:prstGeom prst="roundRect">
            <a:avLst>
              <a:gd name="adj" fmla="val 9542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253082"/>
            <a:ext cx="45720" cy="479146"/>
          </a:xfrm>
          <a:prstGeom prst="rect">
            <a:avLst/>
          </a:prstGeom>
          <a:solidFill>
            <a:srgbClr val="B27A7E"/>
          </a:solidFill>
        </p:spPr>
      </p:sp>
      <p:sp>
        <p:nvSpPr>
          <p:cNvPr id="15" name="Text 13"/>
          <p:cNvSpPr/>
          <p:nvPr/>
        </p:nvSpPr>
        <p:spPr>
          <a:xfrm>
            <a:off x="649224" y="2392070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33272" y="2236622"/>
            <a:ext cx="7498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Real Pumping Routine at the Office or Lactation Room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33272" y="2474366"/>
            <a:ext cx="7498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Pumping at Work Actually Looks Like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2805379"/>
            <a:ext cx="8138160" cy="479146"/>
          </a:xfrm>
          <a:prstGeom prst="roundRect">
            <a:avLst>
              <a:gd name="adj" fmla="val 9542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805379"/>
            <a:ext cx="45720" cy="47914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20" name="Text 18"/>
          <p:cNvSpPr/>
          <p:nvPr/>
        </p:nvSpPr>
        <p:spPr>
          <a:xfrm>
            <a:off x="649224" y="2944368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33272" y="2788920"/>
            <a:ext cx="7498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Afternoon Fatigue and the Mental Load of Pumping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33272" y="3026664"/>
            <a:ext cx="7498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When Pumping Feels Like One More Task on My Calendar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357677"/>
            <a:ext cx="8138160" cy="479146"/>
          </a:xfrm>
          <a:prstGeom prst="roundRect">
            <a:avLst>
              <a:gd name="adj" fmla="val 9542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357677"/>
            <a:ext cx="45720" cy="479146"/>
          </a:xfrm>
          <a:prstGeom prst="rect">
            <a:avLst/>
          </a:prstGeom>
          <a:solidFill>
            <a:srgbClr val="B27A7E"/>
          </a:solidFill>
        </p:spPr>
      </p:sp>
      <p:sp>
        <p:nvSpPr>
          <p:cNvPr id="25" name="Text 23"/>
          <p:cNvSpPr/>
          <p:nvPr/>
        </p:nvSpPr>
        <p:spPr>
          <a:xfrm>
            <a:off x="649224" y="3496666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33272" y="3341218"/>
            <a:ext cx="7498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Returning-to-Work Experience and Advice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33272" y="3578962"/>
            <a:ext cx="7498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Things I Wish I Knew Before Pumping at Work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3909974"/>
            <a:ext cx="8138160" cy="479146"/>
          </a:xfrm>
          <a:prstGeom prst="roundRect">
            <a:avLst>
              <a:gd name="adj" fmla="val 9542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909974"/>
            <a:ext cx="45720" cy="47914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0" name="Text 28"/>
          <p:cNvSpPr/>
          <p:nvPr/>
        </p:nvSpPr>
        <p:spPr>
          <a:xfrm>
            <a:off x="649224" y="4048963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33272" y="3893515"/>
            <a:ext cx="7498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 Pumping Bag or Desk-Drawer Essentials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33272" y="4131259"/>
            <a:ext cx="74980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What’s in My Work Pumping Bag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VIDEO TOPICS — DETAIL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Topic </a:t>
            </a:r>
            <a:r>
              <a:rPr lang="en-US" altLang="zh-CN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Explained in details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Scenario on the left, the key </a:t>
            </a:r>
            <a:r>
              <a:rPr lang="en-US" altLang="zh-CN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related </a:t>
            </a:r>
            <a:r>
              <a:rPr lang="en-US" altLang="zh-CN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supporting points</a:t>
            </a: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to carry on the right.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25296"/>
            <a:ext cx="8169411" cy="1527048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25296"/>
            <a:ext cx="45720" cy="1527048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8" name="Text 6"/>
          <p:cNvSpPr/>
          <p:nvPr/>
        </p:nvSpPr>
        <p:spPr>
          <a:xfrm>
            <a:off x="630936" y="1307592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96696" y="1298448"/>
            <a:ext cx="4754880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Pumping Between Two Meetings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96696" y="1536192"/>
            <a:ext cx="4754880" cy="2011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“I Had 20 Minutes Between Meetings — Here’s My Pumping Reset”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96696" y="1737360"/>
            <a:ext cx="4754880" cy="37124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short window between two calls: how you set up, pump, and get back to the desk.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577840" y="1316736"/>
            <a:ext cx="7315" cy="1344168"/>
          </a:xfrm>
          <a:prstGeom prst="rect">
            <a:avLst/>
          </a:prstGeom>
          <a:solidFill>
            <a:srgbClr val="EAD8D4"/>
          </a:solidFill>
        </p:spPr>
      </p:sp>
      <p:sp>
        <p:nvSpPr>
          <p:cNvPr id="23" name="Text 21"/>
          <p:cNvSpPr/>
          <p:nvPr/>
        </p:nvSpPr>
        <p:spPr>
          <a:xfrm>
            <a:off x="996732" y="1988857"/>
            <a:ext cx="2889504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Format:  </a:t>
            </a:r>
            <a:r>
              <a:rPr lang="en-US" sz="75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POV workday vlog with voice-over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02920" y="2862072"/>
            <a:ext cx="8169411" cy="1527048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862072"/>
            <a:ext cx="45720" cy="1527048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26" name="Text 24"/>
          <p:cNvSpPr/>
          <p:nvPr/>
        </p:nvSpPr>
        <p:spPr>
          <a:xfrm>
            <a:off x="630936" y="2944368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96696" y="2935224"/>
            <a:ext cx="4754880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Real Pumping Routine at the Office or Lactation Room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6696" y="3172968"/>
            <a:ext cx="4754880" cy="2011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“What Pumping at Work Actually Looks Like”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96696" y="3374136"/>
            <a:ext cx="4754880" cy="37124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full-day walk-through: morning prep, the designated pump break, and what happens with the milk afterwards. Unglamorous is fine — realistic is the point.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577840" y="2953512"/>
            <a:ext cx="7315" cy="1344168"/>
          </a:xfrm>
          <a:prstGeom prst="rect">
            <a:avLst/>
          </a:prstGeom>
          <a:solidFill>
            <a:srgbClr val="EAD8D4"/>
          </a:solidFill>
        </p:spPr>
      </p:sp>
      <p:sp>
        <p:nvSpPr>
          <p:cNvPr id="31" name="Text 29"/>
          <p:cNvSpPr/>
          <p:nvPr/>
        </p:nvSpPr>
        <p:spPr>
          <a:xfrm>
            <a:off x="5687568" y="2935224"/>
            <a:ext cx="237744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MESSAGES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089915" y="3118136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Full-Surface Warmth</a:t>
            </a:r>
            <a:endParaRPr lang="en-US" sz="800" b="1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089915" y="3384180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5-Zone Suction-Synced Massage</a:t>
            </a:r>
            <a:endParaRPr lang="en-US" sz="800" b="1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089915" y="3677497"/>
            <a:ext cx="2354876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Smart App Control</a:t>
            </a:r>
            <a:r>
              <a:rPr lang="en-US" altLang="zh-CN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: </a:t>
            </a:r>
            <a:r>
              <a:rPr lang="en-US" altLang="zh-CN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</a:t>
            </a:r>
            <a:r>
              <a:rPr lang="zh-CN" altLang="en-US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ontrol everything from your phone</a:t>
            </a:r>
            <a:r>
              <a:rPr lang="en-US" altLang="zh-CN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.</a:t>
            </a:r>
            <a:endParaRPr lang="zh-CN" altLang="en-US" sz="80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96732" y="3745411"/>
            <a:ext cx="2889504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Format:  </a:t>
            </a:r>
            <a:r>
              <a:rPr lang="en-US" sz="75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Documentary-style “Day in My Life” vlog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900" dirty="0"/>
          </a:p>
        </p:txBody>
      </p:sp>
      <p:sp>
        <p:nvSpPr>
          <p:cNvPr id="43" name="Text 11"/>
          <p:cNvSpPr/>
          <p:nvPr/>
        </p:nvSpPr>
        <p:spPr>
          <a:xfrm>
            <a:off x="5687568" y="1298448"/>
            <a:ext cx="2377440" cy="155448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750" b="1" kern="0" spc="1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MESSAGES</a:t>
            </a:r>
            <a:endParaRPr lang="en-US" sz="750" dirty="0"/>
          </a:p>
        </p:txBody>
      </p:sp>
      <p:grpSp>
        <p:nvGrpSpPr>
          <p:cNvPr id="48" name="组合 47"/>
          <p:cNvGrpSpPr/>
          <p:nvPr userDrawn="1"/>
        </p:nvGrpSpPr>
        <p:grpSpPr>
          <a:xfrm>
            <a:off x="5695348" y="1540747"/>
            <a:ext cx="347753" cy="164592"/>
            <a:chOff x="8167" y="2362"/>
            <a:chExt cx="548" cy="259"/>
          </a:xfrm>
        </p:grpSpPr>
        <p:sp>
          <p:nvSpPr>
            <p:cNvPr id="44" name="Shape 12"/>
            <p:cNvSpPr/>
            <p:nvPr/>
          </p:nvSpPr>
          <p:spPr>
            <a:xfrm>
              <a:off x="8167" y="2362"/>
              <a:ext cx="547" cy="259"/>
            </a:xfrm>
            <a:prstGeom prst="roundRect">
              <a:avLst>
                <a:gd name="adj" fmla="val 22222"/>
              </a:avLst>
            </a:prstGeom>
            <a:solidFill>
              <a:srgbClr val="6A2B3A"/>
            </a:solidFill>
          </p:spPr>
        </p:sp>
        <p:sp>
          <p:nvSpPr>
            <p:cNvPr id="45" name="Text 13"/>
            <p:cNvSpPr/>
            <p:nvPr/>
          </p:nvSpPr>
          <p:spPr>
            <a:xfrm>
              <a:off x="8167" y="2369"/>
              <a:ext cx="547" cy="230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P0</a:t>
              </a:r>
              <a:endParaRPr lang="en-US" sz="700" dirty="0"/>
            </a:p>
          </p:txBody>
        </p:sp>
      </p:grpSp>
      <p:sp>
        <p:nvSpPr>
          <p:cNvPr id="46" name="Text 14"/>
          <p:cNvSpPr/>
          <p:nvPr/>
        </p:nvSpPr>
        <p:spPr>
          <a:xfrm>
            <a:off x="6089880" y="1523785"/>
            <a:ext cx="2634437" cy="173736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Full-Surface Warmth</a:t>
            </a:r>
            <a:endParaRPr lang="zh-CN" altLang="en-US" sz="80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6089915" y="1777439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zh-CN" alt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5-Zone Suction-Synced Massage</a:t>
            </a:r>
            <a:endParaRPr lang="zh-CN" altLang="en-US" sz="800" b="1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grpSp>
        <p:nvGrpSpPr>
          <p:cNvPr id="53" name="组合 52"/>
          <p:cNvGrpSpPr/>
          <p:nvPr userDrawn="1"/>
        </p:nvGrpSpPr>
        <p:grpSpPr>
          <a:xfrm>
            <a:off x="5696091" y="2036489"/>
            <a:ext cx="347720" cy="164592"/>
            <a:chOff x="8630" y="3312"/>
            <a:chExt cx="548" cy="259"/>
          </a:xfrm>
        </p:grpSpPr>
        <p:sp>
          <p:nvSpPr>
            <p:cNvPr id="49" name="Shape 18"/>
            <p:cNvSpPr/>
            <p:nvPr/>
          </p:nvSpPr>
          <p:spPr>
            <a:xfrm>
              <a:off x="8630" y="3312"/>
              <a:ext cx="547" cy="259"/>
            </a:xfrm>
            <a:prstGeom prst="roundRect">
              <a:avLst>
                <a:gd name="adj" fmla="val 22222"/>
              </a:avLst>
            </a:prstGeom>
            <a:solidFill>
              <a:srgbClr val="D9A8A3"/>
            </a:solidFill>
          </p:spPr>
        </p:sp>
        <p:sp>
          <p:nvSpPr>
            <p:cNvPr id="50" name="Text 19"/>
            <p:cNvSpPr/>
            <p:nvPr/>
          </p:nvSpPr>
          <p:spPr>
            <a:xfrm>
              <a:off x="8630" y="3326"/>
              <a:ext cx="547" cy="230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P2</a:t>
              </a:r>
              <a:endParaRPr lang="en-US" sz="700" dirty="0"/>
            </a:p>
          </p:txBody>
        </p:sp>
      </p:grpSp>
      <p:sp>
        <p:nvSpPr>
          <p:cNvPr id="51" name="Text 20"/>
          <p:cNvSpPr/>
          <p:nvPr/>
        </p:nvSpPr>
        <p:spPr>
          <a:xfrm>
            <a:off x="6089915" y="2009650"/>
            <a:ext cx="2695405" cy="25097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altLang="zh-CN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Expert-Tuned Programs &amp; Personalized Rhythm: </a:t>
            </a:r>
            <a:r>
              <a:rPr lang="en-US" altLang="zh-CN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Preset </a:t>
            </a:r>
            <a:r>
              <a:rPr lang="en-US" altLang="zh-CN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rograms to keeps sessions consistent at work.</a:t>
            </a:r>
            <a:endParaRPr lang="en-US" altLang="zh-CN" sz="80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5700078" y="2298067"/>
            <a:ext cx="347472" cy="164592"/>
            <a:chOff x="11162" y="6086"/>
            <a:chExt cx="547" cy="259"/>
          </a:xfrm>
        </p:grpSpPr>
        <p:sp>
          <p:nvSpPr>
            <p:cNvPr id="54" name="Shape 33"/>
            <p:cNvSpPr/>
            <p:nvPr/>
          </p:nvSpPr>
          <p:spPr>
            <a:xfrm>
              <a:off x="11162" y="6086"/>
              <a:ext cx="547" cy="259"/>
            </a:xfrm>
            <a:prstGeom prst="roundRect">
              <a:avLst>
                <a:gd name="adj" fmla="val 22222"/>
              </a:avLst>
            </a:prstGeom>
            <a:solidFill>
              <a:srgbClr val="B27A7E"/>
            </a:solidFill>
          </p:spPr>
        </p:sp>
        <p:sp>
          <p:nvSpPr>
            <p:cNvPr id="55" name="Text 34"/>
            <p:cNvSpPr/>
            <p:nvPr/>
          </p:nvSpPr>
          <p:spPr>
            <a:xfrm>
              <a:off x="11197" y="6138"/>
              <a:ext cx="477" cy="155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P1</a:t>
              </a:r>
              <a:endParaRPr lang="en-US" sz="700" dirty="0"/>
            </a:p>
          </p:txBody>
        </p:sp>
      </p:grpSp>
      <p:sp>
        <p:nvSpPr>
          <p:cNvPr id="56" name="Text 20"/>
          <p:cNvSpPr/>
          <p:nvPr/>
        </p:nvSpPr>
        <p:spPr>
          <a:xfrm>
            <a:off x="6089915" y="2322563"/>
            <a:ext cx="2784285" cy="173736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Smart App Control</a:t>
            </a:r>
            <a:r>
              <a:rPr lang="en-US" altLang="zh-CN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zh-CN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Control everything from </a:t>
            </a:r>
            <a:endParaRPr lang="en-US" altLang="zh-CN" sz="80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your phone.</a:t>
            </a:r>
            <a:endParaRPr lang="zh-CN" altLang="en-US" sz="80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7" name="组合 56"/>
          <p:cNvGrpSpPr/>
          <p:nvPr userDrawn="1"/>
        </p:nvGrpSpPr>
        <p:grpSpPr>
          <a:xfrm>
            <a:off x="5695348" y="1781996"/>
            <a:ext cx="347118" cy="164592"/>
            <a:chOff x="8167" y="2362"/>
            <a:chExt cx="547" cy="259"/>
          </a:xfrm>
        </p:grpSpPr>
        <p:sp>
          <p:nvSpPr>
            <p:cNvPr id="58" name="Shape 12"/>
            <p:cNvSpPr/>
            <p:nvPr/>
          </p:nvSpPr>
          <p:spPr>
            <a:xfrm>
              <a:off x="8167" y="2362"/>
              <a:ext cx="547" cy="259"/>
            </a:xfrm>
            <a:prstGeom prst="roundRect">
              <a:avLst>
                <a:gd name="adj" fmla="val 22222"/>
              </a:avLst>
            </a:prstGeom>
            <a:solidFill>
              <a:srgbClr val="6A2B3A"/>
            </a:solidFill>
          </p:spPr>
        </p:sp>
        <p:sp>
          <p:nvSpPr>
            <p:cNvPr id="59" name="Text 13"/>
            <p:cNvSpPr/>
            <p:nvPr/>
          </p:nvSpPr>
          <p:spPr>
            <a:xfrm>
              <a:off x="8167" y="2376"/>
              <a:ext cx="547" cy="230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P0</a:t>
              </a:r>
              <a:endParaRPr lang="en-US" sz="700" dirty="0"/>
            </a:p>
          </p:txBody>
        </p:sp>
      </p:grpSp>
      <p:sp>
        <p:nvSpPr>
          <p:cNvPr id="62" name="Text 38"/>
          <p:cNvSpPr/>
          <p:nvPr/>
        </p:nvSpPr>
        <p:spPr>
          <a:xfrm>
            <a:off x="6089915" y="3988816"/>
            <a:ext cx="2582388" cy="173736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altLang="zh-CN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Easy to Use: </a:t>
            </a:r>
            <a:r>
              <a:rPr lang="en-US" altLang="zh-CN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One-press release, and only 5 milk-contact parts to wash.</a:t>
            </a:r>
            <a:endParaRPr lang="en-US" altLang="zh-CN" sz="80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9" name="组合 78"/>
          <p:cNvGrpSpPr/>
          <p:nvPr userDrawn="1"/>
        </p:nvGrpSpPr>
        <p:grpSpPr>
          <a:xfrm>
            <a:off x="5699125" y="3122930"/>
            <a:ext cx="347980" cy="1034415"/>
            <a:chOff x="8975" y="4918"/>
            <a:chExt cx="548" cy="1629"/>
          </a:xfrm>
        </p:grpSpPr>
        <p:grpSp>
          <p:nvGrpSpPr>
            <p:cNvPr id="63" name="组合 62"/>
            <p:cNvGrpSpPr/>
            <p:nvPr userDrawn="1"/>
          </p:nvGrpSpPr>
          <p:grpSpPr>
            <a:xfrm>
              <a:off x="8976" y="6289"/>
              <a:ext cx="548" cy="259"/>
              <a:chOff x="8630" y="3312"/>
              <a:chExt cx="548" cy="259"/>
            </a:xfrm>
          </p:grpSpPr>
          <p:sp>
            <p:nvSpPr>
              <p:cNvPr id="64" name="Shape 18"/>
              <p:cNvSpPr/>
              <p:nvPr/>
            </p:nvSpPr>
            <p:spPr>
              <a:xfrm>
                <a:off x="8630" y="3312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D9A8A3"/>
              </a:solidFill>
            </p:spPr>
          </p:sp>
          <p:sp>
            <p:nvSpPr>
              <p:cNvPr id="65" name="Text 19"/>
              <p:cNvSpPr/>
              <p:nvPr/>
            </p:nvSpPr>
            <p:spPr>
              <a:xfrm>
                <a:off x="8630" y="3326"/>
                <a:ext cx="547" cy="230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P2</a:t>
                </a:r>
                <a:endParaRPr lang="en-US" sz="700" dirty="0"/>
              </a:p>
            </p:txBody>
          </p:sp>
        </p:grpSp>
        <p:grpSp>
          <p:nvGrpSpPr>
            <p:cNvPr id="67" name="组合 66"/>
            <p:cNvGrpSpPr/>
            <p:nvPr userDrawn="1"/>
          </p:nvGrpSpPr>
          <p:grpSpPr>
            <a:xfrm>
              <a:off x="8976" y="4918"/>
              <a:ext cx="548" cy="259"/>
              <a:chOff x="8167" y="2362"/>
              <a:chExt cx="548" cy="259"/>
            </a:xfrm>
          </p:grpSpPr>
          <p:sp>
            <p:nvSpPr>
              <p:cNvPr id="68" name="Shape 12"/>
              <p:cNvSpPr/>
              <p:nvPr/>
            </p:nvSpPr>
            <p:spPr>
              <a:xfrm>
                <a:off x="8167" y="2362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6A2B3A"/>
              </a:solidFill>
            </p:spPr>
          </p:sp>
          <p:sp>
            <p:nvSpPr>
              <p:cNvPr id="69" name="Text 13"/>
              <p:cNvSpPr/>
              <p:nvPr/>
            </p:nvSpPr>
            <p:spPr>
              <a:xfrm>
                <a:off x="8167" y="2369"/>
                <a:ext cx="547" cy="230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P0</a:t>
                </a:r>
                <a:endParaRPr lang="en-US" sz="700" dirty="0"/>
              </a:p>
            </p:txBody>
          </p:sp>
        </p:grpSp>
        <p:grpSp>
          <p:nvGrpSpPr>
            <p:cNvPr id="70" name="组合 69"/>
            <p:cNvGrpSpPr/>
            <p:nvPr userDrawn="1"/>
          </p:nvGrpSpPr>
          <p:grpSpPr>
            <a:xfrm>
              <a:off x="8976" y="5331"/>
              <a:ext cx="548" cy="259"/>
              <a:chOff x="8167" y="2362"/>
              <a:chExt cx="548" cy="259"/>
            </a:xfrm>
          </p:grpSpPr>
          <p:sp>
            <p:nvSpPr>
              <p:cNvPr id="71" name="Shape 12"/>
              <p:cNvSpPr/>
              <p:nvPr/>
            </p:nvSpPr>
            <p:spPr>
              <a:xfrm>
                <a:off x="8167" y="2362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6A2B3A"/>
              </a:solidFill>
            </p:spPr>
          </p:sp>
          <p:sp>
            <p:nvSpPr>
              <p:cNvPr id="72" name="Text 13"/>
              <p:cNvSpPr/>
              <p:nvPr/>
            </p:nvSpPr>
            <p:spPr>
              <a:xfrm>
                <a:off x="8167" y="2369"/>
                <a:ext cx="547" cy="230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P0</a:t>
                </a:r>
                <a:endParaRPr lang="en-US" sz="700" dirty="0"/>
              </a:p>
            </p:txBody>
          </p:sp>
        </p:grpSp>
        <p:grpSp>
          <p:nvGrpSpPr>
            <p:cNvPr id="73" name="组合 72"/>
            <p:cNvGrpSpPr/>
            <p:nvPr userDrawn="1"/>
          </p:nvGrpSpPr>
          <p:grpSpPr>
            <a:xfrm>
              <a:off x="8975" y="5781"/>
              <a:ext cx="547" cy="259"/>
              <a:chOff x="11162" y="6086"/>
              <a:chExt cx="547" cy="259"/>
            </a:xfrm>
          </p:grpSpPr>
          <p:sp>
            <p:nvSpPr>
              <p:cNvPr id="74" name="Shape 33"/>
              <p:cNvSpPr/>
              <p:nvPr/>
            </p:nvSpPr>
            <p:spPr>
              <a:xfrm>
                <a:off x="11162" y="6086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B27A7E"/>
              </a:solidFill>
            </p:spPr>
          </p:sp>
          <p:sp>
            <p:nvSpPr>
              <p:cNvPr id="75" name="Text 34"/>
              <p:cNvSpPr/>
              <p:nvPr/>
            </p:nvSpPr>
            <p:spPr>
              <a:xfrm>
                <a:off x="11197" y="6138"/>
                <a:ext cx="477" cy="155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P1</a:t>
                </a:r>
                <a:endParaRPr lang="en-US" sz="700" dirty="0"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VIDEO TOPICS — DETAIL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Topic Explained in details</a:t>
            </a:r>
            <a:endParaRPr lang="en-US" sz="2100" b="1" dirty="0">
              <a:solidFill>
                <a:srgbClr val="6A2B3A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Scenario on the left, the key related supporting points to carry on the right.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9693"/>
            <a:ext cx="8138160" cy="1762963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25296"/>
            <a:ext cx="45720" cy="1762963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8" name="Text 6"/>
          <p:cNvSpPr/>
          <p:nvPr/>
        </p:nvSpPr>
        <p:spPr>
          <a:xfrm>
            <a:off x="630936" y="1307592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96696" y="1298448"/>
            <a:ext cx="4754880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Afternoon Fatigue and the Mental Load of Pumping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96696" y="1536192"/>
            <a:ext cx="4754880" cy="2011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“When Pumping Feels Like One More Task on My Calendar”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96696" y="1737360"/>
            <a:ext cx="4754880" cy="37124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end-of-day version of the routine, and how the session itself feels different from the way it used to.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96735" y="2168925"/>
            <a:ext cx="4462272" cy="4023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B0662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Talk about how the session feels. Do not frame it as relieving stress, anxiety or fatigue.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577840" y="1316736"/>
            <a:ext cx="7315" cy="1580083"/>
          </a:xfrm>
          <a:prstGeom prst="rect">
            <a:avLst/>
          </a:prstGeom>
          <a:solidFill>
            <a:srgbClr val="EAD8D4"/>
          </a:solidFill>
        </p:spPr>
      </p:sp>
      <p:sp>
        <p:nvSpPr>
          <p:cNvPr id="15" name="Text 13"/>
          <p:cNvSpPr/>
          <p:nvPr/>
        </p:nvSpPr>
        <p:spPr>
          <a:xfrm>
            <a:off x="5687568" y="1298448"/>
            <a:ext cx="237744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MESSAGES</a:t>
            </a:r>
            <a:endParaRPr lang="en-US" sz="750" dirty="0"/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5687568" y="1481328"/>
            <a:ext cx="347599" cy="164592"/>
            <a:chOff x="8957" y="2333"/>
            <a:chExt cx="547" cy="259"/>
          </a:xfrm>
        </p:grpSpPr>
        <p:sp>
          <p:nvSpPr>
            <p:cNvPr id="16" name="Shape 14"/>
            <p:cNvSpPr/>
            <p:nvPr/>
          </p:nvSpPr>
          <p:spPr>
            <a:xfrm>
              <a:off x="8957" y="2333"/>
              <a:ext cx="547" cy="259"/>
            </a:xfrm>
            <a:prstGeom prst="roundRect">
              <a:avLst>
                <a:gd name="adj" fmla="val 22222"/>
              </a:avLst>
            </a:prstGeom>
            <a:solidFill>
              <a:srgbClr val="6A2B3A"/>
            </a:solidFill>
          </p:spPr>
        </p:sp>
        <p:sp>
          <p:nvSpPr>
            <p:cNvPr id="17" name="Text 15"/>
            <p:cNvSpPr/>
            <p:nvPr/>
          </p:nvSpPr>
          <p:spPr>
            <a:xfrm>
              <a:off x="8957" y="2347"/>
              <a:ext cx="547" cy="23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P0</a:t>
              </a:r>
              <a:endParaRPr lang="en-US" sz="700" dirty="0"/>
            </a:p>
          </p:txBody>
        </p:sp>
      </p:grpSp>
      <p:sp>
        <p:nvSpPr>
          <p:cNvPr id="18" name="Text 16"/>
          <p:cNvSpPr/>
          <p:nvPr/>
        </p:nvSpPr>
        <p:spPr>
          <a:xfrm>
            <a:off x="6089904" y="1476756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Full-Surface Warmth</a:t>
            </a:r>
            <a:endParaRPr lang="en-US" sz="800" b="1" dirty="0"/>
          </a:p>
        </p:txBody>
      </p:sp>
      <p:sp>
        <p:nvSpPr>
          <p:cNvPr id="21" name="Text 19"/>
          <p:cNvSpPr/>
          <p:nvPr/>
        </p:nvSpPr>
        <p:spPr>
          <a:xfrm>
            <a:off x="6089915" y="1732375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5-Zone Suction-Synced Massage</a:t>
            </a:r>
            <a:endParaRPr lang="en-US" sz="800" b="1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96732" y="2424943"/>
            <a:ext cx="2889504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Format:  </a:t>
            </a:r>
            <a:r>
              <a:rPr lang="en-US" sz="75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Emotional storytelling, before-and-after mood comparison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02920" y="3097987"/>
            <a:ext cx="8138160" cy="1600378"/>
          </a:xfrm>
          <a:prstGeom prst="roundRect">
            <a:avLst>
              <a:gd name="adj" fmla="val 3541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097987"/>
            <a:ext cx="45720" cy="1291133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28" name="Text 26"/>
          <p:cNvSpPr/>
          <p:nvPr/>
        </p:nvSpPr>
        <p:spPr>
          <a:xfrm>
            <a:off x="630936" y="3180283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96696" y="3171139"/>
            <a:ext cx="4754880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Returning-to-Work Experience and Advice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96696" y="3408883"/>
            <a:ext cx="4754880" cy="2011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“3 Things I Wish I Knew Before Pumping at Work”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96696" y="3610051"/>
            <a:ext cx="4754880" cy="37124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Practical advice for moms about to go back. Frame it as what you learned the hard way, not as a product list </a:t>
            </a:r>
            <a:r>
              <a:rPr lang="en-US" altLang="zh-CN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inttroduction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77840" y="3189427"/>
            <a:ext cx="7315" cy="1108253"/>
          </a:xfrm>
          <a:prstGeom prst="rect">
            <a:avLst/>
          </a:prstGeom>
          <a:solidFill>
            <a:srgbClr val="EAD8D4"/>
          </a:solidFill>
        </p:spPr>
      </p:sp>
      <p:sp>
        <p:nvSpPr>
          <p:cNvPr id="33" name="Text 31"/>
          <p:cNvSpPr/>
          <p:nvPr/>
        </p:nvSpPr>
        <p:spPr>
          <a:xfrm>
            <a:off x="5687568" y="3171139"/>
            <a:ext cx="237744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MESSAGES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996732" y="4005035"/>
            <a:ext cx="2889504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Format:  </a:t>
            </a:r>
            <a:r>
              <a:rPr lang="en-US" sz="75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Talking with B-roll and practical tips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900" dirty="0"/>
          </a:p>
        </p:txBody>
      </p:sp>
      <p:sp>
        <p:nvSpPr>
          <p:cNvPr id="46" name="Text 14"/>
          <p:cNvSpPr/>
          <p:nvPr/>
        </p:nvSpPr>
        <p:spPr>
          <a:xfrm>
            <a:off x="6089915" y="3365659"/>
            <a:ext cx="2634437" cy="173736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Full-Surface Warmth</a:t>
            </a:r>
            <a:endParaRPr lang="zh-CN" altLang="en-US" sz="80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6089915" y="3635005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zh-CN" alt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5-Zone Suction-Synced Massage</a:t>
            </a:r>
            <a:endParaRPr lang="zh-CN" altLang="en-US" sz="800" b="1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2" name="Text 22"/>
          <p:cNvSpPr/>
          <p:nvPr/>
        </p:nvSpPr>
        <p:spPr>
          <a:xfrm>
            <a:off x="6089915" y="1999039"/>
            <a:ext cx="2051230" cy="2154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SoftPulse Baby-Like Suction</a:t>
            </a:r>
            <a:r>
              <a:rPr lang="en-US" altLang="zh-CN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: </a:t>
            </a:r>
            <a:r>
              <a:rPr lang="en-US" altLang="zh-CN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Creates a gentler-feeling rhythm.</a:t>
            </a:r>
            <a:endParaRPr lang="en-US" altLang="zh-CN" sz="80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51" name="Text 20"/>
          <p:cNvSpPr/>
          <p:nvPr/>
        </p:nvSpPr>
        <p:spPr>
          <a:xfrm>
            <a:off x="6089915" y="2264770"/>
            <a:ext cx="2551181" cy="25097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altLang="zh-CN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Expert-Tuned Programs &amp; Personalized Rhythm: </a:t>
            </a:r>
            <a:r>
              <a:rPr lang="en-US" altLang="zh-CN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Preset programs to Get You Pumping Faster.</a:t>
            </a:r>
            <a:endParaRPr lang="en-US" altLang="zh-CN" sz="80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45" name="Text 40"/>
          <p:cNvSpPr/>
          <p:nvPr/>
        </p:nvSpPr>
        <p:spPr>
          <a:xfrm>
            <a:off x="6089915" y="3880316"/>
            <a:ext cx="2487168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Easy to Use</a:t>
            </a:r>
            <a:r>
              <a:rPr lang="en-US" altLang="zh-CN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:</a:t>
            </a:r>
            <a:r>
              <a:rPr lang="en-US" altLang="zh-CN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Saves time between sessions.</a:t>
            </a:r>
            <a:endParaRPr lang="en-US" altLang="zh-CN" sz="80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49" name="Text 37"/>
          <p:cNvSpPr/>
          <p:nvPr/>
        </p:nvSpPr>
        <p:spPr>
          <a:xfrm>
            <a:off x="6096596" y="4161531"/>
            <a:ext cx="2627775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Expert-Tuned Programs &amp; Personalized Rhythm: </a:t>
            </a:r>
            <a:r>
              <a:rPr lang="en-US" sz="8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Builds a consistent work routine.</a:t>
            </a:r>
            <a:endParaRPr lang="en-US" sz="8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3" name="组合 52"/>
          <p:cNvGrpSpPr/>
          <p:nvPr userDrawn="1"/>
        </p:nvGrpSpPr>
        <p:grpSpPr>
          <a:xfrm>
            <a:off x="5699443" y="1751065"/>
            <a:ext cx="347599" cy="164592"/>
            <a:chOff x="8957" y="2333"/>
            <a:chExt cx="547" cy="259"/>
          </a:xfrm>
        </p:grpSpPr>
        <p:sp>
          <p:nvSpPr>
            <p:cNvPr id="54" name="Shape 14"/>
            <p:cNvSpPr/>
            <p:nvPr/>
          </p:nvSpPr>
          <p:spPr>
            <a:xfrm>
              <a:off x="8957" y="2333"/>
              <a:ext cx="547" cy="259"/>
            </a:xfrm>
            <a:prstGeom prst="roundRect">
              <a:avLst>
                <a:gd name="adj" fmla="val 22222"/>
              </a:avLst>
            </a:prstGeom>
            <a:solidFill>
              <a:srgbClr val="6A2B3A"/>
            </a:solidFill>
          </p:spPr>
        </p:sp>
        <p:sp>
          <p:nvSpPr>
            <p:cNvPr id="55" name="Text 15"/>
            <p:cNvSpPr/>
            <p:nvPr/>
          </p:nvSpPr>
          <p:spPr>
            <a:xfrm>
              <a:off x="8957" y="2347"/>
              <a:ext cx="547" cy="230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P0</a:t>
              </a:r>
              <a:endParaRPr lang="en-US" sz="700" dirty="0"/>
            </a:p>
          </p:txBody>
        </p:sp>
      </p:grpSp>
      <p:grpSp>
        <p:nvGrpSpPr>
          <p:cNvPr id="56" name="组合 55"/>
          <p:cNvGrpSpPr/>
          <p:nvPr userDrawn="1"/>
        </p:nvGrpSpPr>
        <p:grpSpPr>
          <a:xfrm>
            <a:off x="5699442" y="2020411"/>
            <a:ext cx="347720" cy="164592"/>
            <a:chOff x="8630" y="3312"/>
            <a:chExt cx="548" cy="259"/>
          </a:xfrm>
        </p:grpSpPr>
        <p:sp>
          <p:nvSpPr>
            <p:cNvPr id="57" name="Shape 18"/>
            <p:cNvSpPr/>
            <p:nvPr/>
          </p:nvSpPr>
          <p:spPr>
            <a:xfrm>
              <a:off x="8630" y="3312"/>
              <a:ext cx="547" cy="259"/>
            </a:xfrm>
            <a:prstGeom prst="roundRect">
              <a:avLst>
                <a:gd name="adj" fmla="val 22222"/>
              </a:avLst>
            </a:prstGeom>
            <a:solidFill>
              <a:srgbClr val="D9A8A3"/>
            </a:solidFill>
          </p:spPr>
        </p:sp>
        <p:sp>
          <p:nvSpPr>
            <p:cNvPr id="58" name="Text 19"/>
            <p:cNvSpPr/>
            <p:nvPr/>
          </p:nvSpPr>
          <p:spPr>
            <a:xfrm>
              <a:off x="8630" y="3326"/>
              <a:ext cx="547" cy="230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P2</a:t>
              </a:r>
              <a:endParaRPr lang="en-US" sz="700" dirty="0"/>
            </a:p>
          </p:txBody>
        </p:sp>
      </p:grpSp>
      <p:grpSp>
        <p:nvGrpSpPr>
          <p:cNvPr id="59" name="组合 58"/>
          <p:cNvGrpSpPr/>
          <p:nvPr userDrawn="1"/>
        </p:nvGrpSpPr>
        <p:grpSpPr>
          <a:xfrm>
            <a:off x="5699442" y="2283248"/>
            <a:ext cx="347720" cy="164592"/>
            <a:chOff x="8630" y="3312"/>
            <a:chExt cx="548" cy="259"/>
          </a:xfrm>
        </p:grpSpPr>
        <p:sp>
          <p:nvSpPr>
            <p:cNvPr id="60" name="Shape 18"/>
            <p:cNvSpPr/>
            <p:nvPr/>
          </p:nvSpPr>
          <p:spPr>
            <a:xfrm>
              <a:off x="8630" y="3312"/>
              <a:ext cx="547" cy="259"/>
            </a:xfrm>
            <a:prstGeom prst="roundRect">
              <a:avLst>
                <a:gd name="adj" fmla="val 22222"/>
              </a:avLst>
            </a:prstGeom>
            <a:solidFill>
              <a:srgbClr val="D9A8A3"/>
            </a:solidFill>
          </p:spPr>
        </p:sp>
        <p:sp>
          <p:nvSpPr>
            <p:cNvPr id="61" name="Text 19"/>
            <p:cNvSpPr/>
            <p:nvPr/>
          </p:nvSpPr>
          <p:spPr>
            <a:xfrm>
              <a:off x="8630" y="3326"/>
              <a:ext cx="547" cy="230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P2</a:t>
              </a:r>
              <a:endParaRPr lang="en-US" sz="700" dirty="0"/>
            </a:p>
          </p:txBody>
        </p:sp>
      </p:grpSp>
      <p:grpSp>
        <p:nvGrpSpPr>
          <p:cNvPr id="65" name="组合 64"/>
          <p:cNvGrpSpPr/>
          <p:nvPr userDrawn="1"/>
        </p:nvGrpSpPr>
        <p:grpSpPr>
          <a:xfrm>
            <a:off x="5699443" y="3365664"/>
            <a:ext cx="347599" cy="164592"/>
            <a:chOff x="8957" y="2333"/>
            <a:chExt cx="547" cy="259"/>
          </a:xfrm>
        </p:grpSpPr>
        <p:sp>
          <p:nvSpPr>
            <p:cNvPr id="66" name="Shape 14"/>
            <p:cNvSpPr/>
            <p:nvPr/>
          </p:nvSpPr>
          <p:spPr>
            <a:xfrm>
              <a:off x="8957" y="2333"/>
              <a:ext cx="547" cy="259"/>
            </a:xfrm>
            <a:prstGeom prst="roundRect">
              <a:avLst>
                <a:gd name="adj" fmla="val 22222"/>
              </a:avLst>
            </a:prstGeom>
            <a:solidFill>
              <a:srgbClr val="6A2B3A"/>
            </a:solidFill>
          </p:spPr>
        </p:sp>
        <p:sp>
          <p:nvSpPr>
            <p:cNvPr id="67" name="Text 15"/>
            <p:cNvSpPr/>
            <p:nvPr/>
          </p:nvSpPr>
          <p:spPr>
            <a:xfrm>
              <a:off x="8957" y="2347"/>
              <a:ext cx="547" cy="230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P0</a:t>
              </a:r>
              <a:endParaRPr lang="en-US" sz="700" dirty="0"/>
            </a:p>
          </p:txBody>
        </p:sp>
      </p:grpSp>
      <p:grpSp>
        <p:nvGrpSpPr>
          <p:cNvPr id="68" name="组合 67"/>
          <p:cNvGrpSpPr/>
          <p:nvPr userDrawn="1"/>
        </p:nvGrpSpPr>
        <p:grpSpPr>
          <a:xfrm>
            <a:off x="5699443" y="3635005"/>
            <a:ext cx="347599" cy="164592"/>
            <a:chOff x="8957" y="2333"/>
            <a:chExt cx="547" cy="259"/>
          </a:xfrm>
        </p:grpSpPr>
        <p:sp>
          <p:nvSpPr>
            <p:cNvPr id="69" name="Shape 14"/>
            <p:cNvSpPr/>
            <p:nvPr/>
          </p:nvSpPr>
          <p:spPr>
            <a:xfrm>
              <a:off x="8957" y="2333"/>
              <a:ext cx="547" cy="259"/>
            </a:xfrm>
            <a:prstGeom prst="roundRect">
              <a:avLst>
                <a:gd name="adj" fmla="val 22222"/>
              </a:avLst>
            </a:prstGeom>
            <a:solidFill>
              <a:srgbClr val="6A2B3A"/>
            </a:solidFill>
          </p:spPr>
        </p:sp>
        <p:sp>
          <p:nvSpPr>
            <p:cNvPr id="70" name="Text 15"/>
            <p:cNvSpPr/>
            <p:nvPr/>
          </p:nvSpPr>
          <p:spPr>
            <a:xfrm>
              <a:off x="8957" y="2347"/>
              <a:ext cx="547" cy="230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P0</a:t>
              </a:r>
              <a:endParaRPr lang="en-US" sz="700" dirty="0"/>
            </a:p>
          </p:txBody>
        </p:sp>
      </p:grpSp>
      <p:grpSp>
        <p:nvGrpSpPr>
          <p:cNvPr id="71" name="组合 70"/>
          <p:cNvGrpSpPr/>
          <p:nvPr userDrawn="1"/>
        </p:nvGrpSpPr>
        <p:grpSpPr>
          <a:xfrm>
            <a:off x="5699442" y="3884867"/>
            <a:ext cx="347720" cy="164592"/>
            <a:chOff x="8630" y="3312"/>
            <a:chExt cx="548" cy="259"/>
          </a:xfrm>
        </p:grpSpPr>
        <p:sp>
          <p:nvSpPr>
            <p:cNvPr id="72" name="Shape 18"/>
            <p:cNvSpPr/>
            <p:nvPr/>
          </p:nvSpPr>
          <p:spPr>
            <a:xfrm>
              <a:off x="8630" y="3312"/>
              <a:ext cx="547" cy="259"/>
            </a:xfrm>
            <a:prstGeom prst="roundRect">
              <a:avLst>
                <a:gd name="adj" fmla="val 22222"/>
              </a:avLst>
            </a:prstGeom>
            <a:solidFill>
              <a:srgbClr val="D9A8A3"/>
            </a:solidFill>
          </p:spPr>
        </p:sp>
        <p:sp>
          <p:nvSpPr>
            <p:cNvPr id="73" name="Text 19"/>
            <p:cNvSpPr/>
            <p:nvPr/>
          </p:nvSpPr>
          <p:spPr>
            <a:xfrm>
              <a:off x="8630" y="3326"/>
              <a:ext cx="547" cy="230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P2</a:t>
              </a:r>
              <a:endParaRPr lang="en-US" sz="700" dirty="0"/>
            </a:p>
          </p:txBody>
        </p:sp>
      </p:grpSp>
      <p:sp>
        <p:nvSpPr>
          <p:cNvPr id="74" name="Text 19"/>
          <p:cNvSpPr/>
          <p:nvPr/>
        </p:nvSpPr>
        <p:spPr>
          <a:xfrm>
            <a:off x="5688012" y="2515665"/>
            <a:ext cx="347085" cy="146163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P2</a:t>
            </a:r>
            <a:endParaRPr lang="en-US" sz="700" dirty="0"/>
          </a:p>
        </p:txBody>
      </p:sp>
      <p:grpSp>
        <p:nvGrpSpPr>
          <p:cNvPr id="76" name="组合 75"/>
          <p:cNvGrpSpPr/>
          <p:nvPr userDrawn="1"/>
        </p:nvGrpSpPr>
        <p:grpSpPr>
          <a:xfrm>
            <a:off x="5699443" y="4154223"/>
            <a:ext cx="347720" cy="164592"/>
            <a:chOff x="8630" y="3312"/>
            <a:chExt cx="548" cy="259"/>
          </a:xfrm>
        </p:grpSpPr>
        <p:sp>
          <p:nvSpPr>
            <p:cNvPr id="77" name="Shape 18"/>
            <p:cNvSpPr/>
            <p:nvPr/>
          </p:nvSpPr>
          <p:spPr>
            <a:xfrm>
              <a:off x="8630" y="3312"/>
              <a:ext cx="547" cy="259"/>
            </a:xfrm>
            <a:prstGeom prst="roundRect">
              <a:avLst>
                <a:gd name="adj" fmla="val 22222"/>
              </a:avLst>
            </a:prstGeom>
            <a:solidFill>
              <a:srgbClr val="D9A8A3"/>
            </a:solidFill>
          </p:spPr>
        </p:sp>
        <p:sp>
          <p:nvSpPr>
            <p:cNvPr id="78" name="Text 19"/>
            <p:cNvSpPr/>
            <p:nvPr/>
          </p:nvSpPr>
          <p:spPr>
            <a:xfrm>
              <a:off x="8630" y="3326"/>
              <a:ext cx="547" cy="230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P2</a:t>
              </a:r>
              <a:endParaRPr lang="en-US" sz="7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VIDEO TOPICS — DETAIL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Scenario on the left, the key related supporting points to carry on the right.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32" y="1225263"/>
            <a:ext cx="8138160" cy="1746504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9525">
            <a:solidFill>
              <a:srgbClr val="EAD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25296"/>
            <a:ext cx="45720" cy="1746504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8" name="Text 6"/>
          <p:cNvSpPr/>
          <p:nvPr/>
        </p:nvSpPr>
        <p:spPr>
          <a:xfrm>
            <a:off x="630936" y="1307592"/>
            <a:ext cx="310896" cy="201168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96696" y="1298448"/>
            <a:ext cx="4754880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 Pumping Bag or Desk-Drawer Essentials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96696" y="1536192"/>
            <a:ext cx="4754880" cy="2011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“What’s in My Work Pumping Bag”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96696" y="1737360"/>
            <a:ext cx="4754880" cy="2359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you actually carry, and why each thing </a:t>
            </a:r>
            <a:r>
              <a:rPr lang="en-US" altLang="zh-CN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is important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577840" y="1316736"/>
            <a:ext cx="7315" cy="1563624"/>
          </a:xfrm>
          <a:prstGeom prst="rect">
            <a:avLst/>
          </a:prstGeom>
          <a:solidFill>
            <a:srgbClr val="EAD8D4"/>
          </a:solidFill>
        </p:spPr>
      </p:sp>
      <p:sp>
        <p:nvSpPr>
          <p:cNvPr id="13" name="Text 11"/>
          <p:cNvSpPr/>
          <p:nvPr/>
        </p:nvSpPr>
        <p:spPr>
          <a:xfrm>
            <a:off x="5687568" y="1298448"/>
            <a:ext cx="237744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MESSAGES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96685" y="2084144"/>
            <a:ext cx="2889504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Format:  </a:t>
            </a:r>
            <a:r>
              <a:rPr lang="en-US" sz="75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Fast-paced checklist-style </a:t>
            </a:r>
            <a:r>
              <a:rPr lang="en-US" altLang="zh-CN" sz="75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video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</a:t>
            </a:r>
            <a:endParaRPr lang="en-US" sz="900" dirty="0"/>
          </a:p>
        </p:txBody>
      </p:sp>
      <p:sp>
        <p:nvSpPr>
          <p:cNvPr id="16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Topic Explained in details</a:t>
            </a:r>
            <a:endParaRPr lang="en-US" sz="2100" b="1" dirty="0">
              <a:solidFill>
                <a:srgbClr val="6A2B3A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5692140" y="1568185"/>
            <a:ext cx="3027680" cy="982345"/>
            <a:chOff x="8957" y="2326"/>
            <a:chExt cx="4768" cy="1547"/>
          </a:xfrm>
        </p:grpSpPr>
        <p:sp>
          <p:nvSpPr>
            <p:cNvPr id="4" name="Text 14"/>
            <p:cNvSpPr/>
            <p:nvPr/>
          </p:nvSpPr>
          <p:spPr>
            <a:xfrm>
              <a:off x="9533" y="3175"/>
              <a:ext cx="3917" cy="27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3B3538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Long Battery Use</a:t>
              </a:r>
              <a:r>
                <a:rPr lang="en-US" altLang="zh-CN" sz="800" b="1" dirty="0">
                  <a:solidFill>
                    <a:srgbClr val="3B3538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: </a:t>
              </a:r>
              <a:r>
                <a:rPr lang="en-US" altLang="zh-CN" sz="800" dirty="0">
                  <a:solidFill>
                    <a:srgbClr val="3B3538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Reduces on-the-go charging.</a:t>
              </a:r>
              <a:endParaRPr lang="en-US" altLang="zh-CN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endParaRPr>
            </a:p>
          </p:txBody>
        </p:sp>
        <p:sp>
          <p:nvSpPr>
            <p:cNvPr id="50" name="Text 20"/>
            <p:cNvSpPr/>
            <p:nvPr/>
          </p:nvSpPr>
          <p:spPr>
            <a:xfrm>
              <a:off x="9533" y="3599"/>
              <a:ext cx="4192" cy="274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>
                <a:buNone/>
              </a:pPr>
              <a:r>
                <a:rPr lang="en-US" sz="800" b="1" dirty="0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Smart App Control</a:t>
              </a:r>
              <a:r>
                <a:rPr lang="en-US" altLang="zh-CN" sz="800" b="1" dirty="0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zh-CN" altLang="en-US" sz="800" dirty="0">
                  <a:solidFill>
                    <a:srgbClr val="00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Enables phone-based adjustments.</a:t>
              </a:r>
              <a:endParaRPr lang="zh-CN" altLang="en-US" sz="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Text 14"/>
            <p:cNvSpPr/>
            <p:nvPr/>
          </p:nvSpPr>
          <p:spPr>
            <a:xfrm>
              <a:off x="9533" y="2326"/>
              <a:ext cx="4149" cy="274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>
                <a:buNone/>
              </a:pPr>
              <a:r>
                <a:rPr lang="en-US" sz="800" b="1" dirty="0">
                  <a:solidFill>
                    <a:srgbClr val="3B3538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Full-Surface Warmth</a:t>
              </a:r>
              <a:endParaRPr lang="zh-CN" altLang="en-US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endParaRPr>
            </a:p>
          </p:txBody>
        </p:sp>
        <p:sp>
          <p:nvSpPr>
            <p:cNvPr id="47" name="Text 17"/>
            <p:cNvSpPr/>
            <p:nvPr/>
          </p:nvSpPr>
          <p:spPr>
            <a:xfrm>
              <a:off x="9533" y="2758"/>
              <a:ext cx="3917" cy="274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>
                <a:buNone/>
              </a:pPr>
              <a:r>
                <a:rPr lang="zh-CN" altLang="en-US" sz="800" b="1" dirty="0">
                  <a:solidFill>
                    <a:srgbClr val="3B3538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5-Zone Suction-Synced Massage</a:t>
              </a:r>
              <a:endParaRPr lang="zh-CN" altLang="en-US" sz="800" b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endParaRPr>
            </a:p>
          </p:txBody>
        </p:sp>
        <p:grpSp>
          <p:nvGrpSpPr>
            <p:cNvPr id="52" name="组合 51"/>
            <p:cNvGrpSpPr/>
            <p:nvPr userDrawn="1"/>
          </p:nvGrpSpPr>
          <p:grpSpPr>
            <a:xfrm>
              <a:off x="8957" y="2333"/>
              <a:ext cx="547" cy="259"/>
              <a:chOff x="8957" y="2333"/>
              <a:chExt cx="547" cy="259"/>
            </a:xfrm>
          </p:grpSpPr>
          <p:sp>
            <p:nvSpPr>
              <p:cNvPr id="26" name="Shape 14"/>
              <p:cNvSpPr/>
              <p:nvPr/>
            </p:nvSpPr>
            <p:spPr>
              <a:xfrm>
                <a:off x="8957" y="2333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6A2B3A"/>
              </a:solidFill>
            </p:spPr>
          </p:sp>
          <p:sp>
            <p:nvSpPr>
              <p:cNvPr id="27" name="Text 15"/>
              <p:cNvSpPr/>
              <p:nvPr/>
            </p:nvSpPr>
            <p:spPr>
              <a:xfrm>
                <a:off x="8957" y="2347"/>
                <a:ext cx="547" cy="230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P0</a:t>
                </a:r>
                <a:endParaRPr lang="en-US" sz="700" dirty="0"/>
              </a:p>
            </p:txBody>
          </p:sp>
        </p:grpSp>
        <p:grpSp>
          <p:nvGrpSpPr>
            <p:cNvPr id="28" name="组合 27"/>
            <p:cNvGrpSpPr/>
            <p:nvPr userDrawn="1"/>
          </p:nvGrpSpPr>
          <p:grpSpPr>
            <a:xfrm>
              <a:off x="8957" y="2758"/>
              <a:ext cx="547" cy="259"/>
              <a:chOff x="8957" y="2333"/>
              <a:chExt cx="547" cy="259"/>
            </a:xfrm>
          </p:grpSpPr>
          <p:sp>
            <p:nvSpPr>
              <p:cNvPr id="29" name="Shape 14"/>
              <p:cNvSpPr/>
              <p:nvPr/>
            </p:nvSpPr>
            <p:spPr>
              <a:xfrm>
                <a:off x="8957" y="2333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6A2B3A"/>
              </a:solidFill>
            </p:spPr>
          </p:sp>
          <p:sp>
            <p:nvSpPr>
              <p:cNvPr id="30" name="Text 15"/>
              <p:cNvSpPr/>
              <p:nvPr/>
            </p:nvSpPr>
            <p:spPr>
              <a:xfrm>
                <a:off x="8957" y="2347"/>
                <a:ext cx="547" cy="230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P0</a:t>
                </a:r>
                <a:endParaRPr lang="en-US" sz="700" dirty="0"/>
              </a:p>
            </p:txBody>
          </p:sp>
        </p:grpSp>
        <p:grpSp>
          <p:nvGrpSpPr>
            <p:cNvPr id="31" name="组合 30"/>
            <p:cNvGrpSpPr/>
            <p:nvPr userDrawn="1"/>
          </p:nvGrpSpPr>
          <p:grpSpPr>
            <a:xfrm>
              <a:off x="8964" y="3175"/>
              <a:ext cx="547" cy="259"/>
              <a:chOff x="8957" y="2333"/>
              <a:chExt cx="547" cy="259"/>
            </a:xfrm>
          </p:grpSpPr>
          <p:sp>
            <p:nvSpPr>
              <p:cNvPr id="32" name="Shape 14"/>
              <p:cNvSpPr/>
              <p:nvPr/>
            </p:nvSpPr>
            <p:spPr>
              <a:xfrm>
                <a:off x="8957" y="2333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7C7C7C">
                  <a:alpha val="100000"/>
                </a:srgbClr>
              </a:solidFill>
            </p:spPr>
          </p:sp>
          <p:sp>
            <p:nvSpPr>
              <p:cNvPr id="33" name="Text 15"/>
              <p:cNvSpPr/>
              <p:nvPr/>
            </p:nvSpPr>
            <p:spPr>
              <a:xfrm>
                <a:off x="8957" y="2347"/>
                <a:ext cx="547" cy="230"/>
              </a:xfrm>
              <a:prstGeom prst="rect">
                <a:avLst/>
              </a:prstGeom>
              <a:noFill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</a:t>
                </a:r>
                <a:r>
                  <a:rPr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3</a:t>
                </a:r>
                <a:endParaRPr lang="en-US" sz="700" dirty="0"/>
              </a:p>
            </p:txBody>
          </p:sp>
        </p:grpSp>
        <p:grpSp>
          <p:nvGrpSpPr>
            <p:cNvPr id="34" name="组合 33"/>
            <p:cNvGrpSpPr/>
            <p:nvPr userDrawn="1"/>
          </p:nvGrpSpPr>
          <p:grpSpPr>
            <a:xfrm>
              <a:off x="8964" y="3599"/>
              <a:ext cx="547" cy="259"/>
              <a:chOff x="11162" y="6086"/>
              <a:chExt cx="547" cy="259"/>
            </a:xfrm>
          </p:grpSpPr>
          <p:sp>
            <p:nvSpPr>
              <p:cNvPr id="54" name="Shape 33"/>
              <p:cNvSpPr/>
              <p:nvPr/>
            </p:nvSpPr>
            <p:spPr>
              <a:xfrm>
                <a:off x="11162" y="6086"/>
                <a:ext cx="547" cy="259"/>
              </a:xfrm>
              <a:prstGeom prst="roundRect">
                <a:avLst>
                  <a:gd name="adj" fmla="val 22222"/>
                </a:avLst>
              </a:prstGeom>
              <a:solidFill>
                <a:srgbClr val="B27A7E"/>
              </a:solidFill>
            </p:spPr>
          </p:sp>
          <p:sp>
            <p:nvSpPr>
              <p:cNvPr id="55" name="Text 34"/>
              <p:cNvSpPr/>
              <p:nvPr/>
            </p:nvSpPr>
            <p:spPr>
              <a:xfrm>
                <a:off x="11197" y="6138"/>
                <a:ext cx="477" cy="155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 algn="ctr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P1</a:t>
                </a:r>
                <a:endParaRPr lang="en-US" sz="700" dirty="0"/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REASONS TO BELIEVE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each message is true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 do not need to recite these on camera. You do need to understand them, so your own words stay accurate.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02920" y="1280160"/>
          <a:ext cx="8138160" cy="3017520"/>
        </p:xfrm>
        <a:graphic>
          <a:graphicData uri="http://schemas.openxmlformats.org/drawingml/2006/table">
            <a:tbl>
              <a:tblPr/>
              <a:tblGrid>
                <a:gridCol w="2926080"/>
                <a:gridCol w="521208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Core message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Reason to believe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Transition more smoothly from work mode into pumping mode.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Warmth covers the full flange-to-breast contact area — not only a few isolated points — with 99°F, 102°F and 106°F settings for fast, even warming.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Warmth and surround rhythmic massage work together throughout the pumping session.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5-Zone Suction-Synced </a:t>
                      </a:r>
                      <a:r>
                        <a:rPr lang="en-US" altLang="zh-CN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</a:t>
                      </a: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assage uses gentle rhythmic vibration that activates during each pull and pauses on release, with 3 levels — not kneading or rolling motions. The massage follows the same rhythm as suction instead of vibrating continuously or randomly.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Feel more in control throughout the workday.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Adjust warmth, massage, suction and modes from the phone; choose an expert-tuned program or save a routine that works for you. You can also log milk output manually and review changes over time in the app.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Fit pumping more easily into a real workday.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One-press release, and only 5 milk-contact parts to wash. Up to 10 pumping-only sessions per charge, or up to 6 with warmth and massage active, with noise below 50 dB.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Spend less time readjusting before each session.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 transparent top helps you check nipple alignment and milk flow. The DoubleFit™ dual-layer flange combines soft, skin-friendly silicone contact with a more supportive, stable seal.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B27A7E"/>
          </a:solidFill>
        </p:spPr>
      </p:sp>
      <p:sp>
        <p:nvSpPr>
          <p:cNvPr id="4" name="Shape 2"/>
          <p:cNvSpPr/>
          <p:nvPr/>
        </p:nvSpPr>
        <p:spPr>
          <a:xfrm>
            <a:off x="-1097280" y="2217420"/>
            <a:ext cx="4206240" cy="4206240"/>
          </a:xfrm>
          <a:prstGeom prst="ellipse">
            <a:avLst/>
          </a:prstGeom>
          <a:solidFill>
            <a:srgbClr val="8A3A4C"/>
          </a:solidFill>
        </p:spPr>
      </p:sp>
      <p:sp>
        <p:nvSpPr>
          <p:cNvPr id="5" name="Text 3"/>
          <p:cNvSpPr/>
          <p:nvPr/>
        </p:nvSpPr>
        <p:spPr>
          <a:xfrm>
            <a:off x="502920" y="1691640"/>
            <a:ext cx="1828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D9A8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502920" y="2724912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Guidelines &amp; Delivery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3255264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Usage · Compliance · Timeline · Rights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USAGE &amp; DO’S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to use it on camera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Getting these wrong is the most common reason a video has to be reshot.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3931920" cy="2231119"/>
          </a:xfrm>
          <a:prstGeom prst="roundRect">
            <a:avLst>
              <a:gd name="adj" fmla="val 3488"/>
            </a:avLst>
          </a:prstGeom>
          <a:solidFill>
            <a:srgbClr val="FBF0E6"/>
          </a:solidFill>
        </p:spPr>
      </p:sp>
      <p:sp>
        <p:nvSpPr>
          <p:cNvPr id="7" name="Shape 5"/>
          <p:cNvSpPr/>
          <p:nvPr/>
        </p:nvSpPr>
        <p:spPr>
          <a:xfrm>
            <a:off x="502920" y="1261872"/>
            <a:ext cx="57995" cy="2231119"/>
          </a:xfrm>
          <a:prstGeom prst="rect">
            <a:avLst/>
          </a:prstGeom>
          <a:solidFill>
            <a:srgbClr val="B0662F"/>
          </a:solidFill>
        </p:spPr>
      </p:sp>
      <p:sp>
        <p:nvSpPr>
          <p:cNvPr id="8" name="Text 6"/>
          <p:cNvSpPr/>
          <p:nvPr/>
        </p:nvSpPr>
        <p:spPr>
          <a:xfrm>
            <a:off x="685800" y="1353312"/>
            <a:ext cx="35661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usage — safety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9873" y="1756522"/>
            <a:ext cx="3834938" cy="199164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lnSpc>
                <a:spcPct val="140000"/>
              </a:lnSpc>
              <a:buChar char="•"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Remove the motor before pouring milk.</a:t>
            </a:r>
            <a:endParaRPr lang="en-US" sz="950" dirty="0"/>
          </a:p>
          <a:p>
            <a:pPr marL="171450" indent="-171450">
              <a:lnSpc>
                <a:spcPct val="140000"/>
              </a:lnSpc>
              <a:buChar char="•"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Flange accessories are not microwave-safe. Do not sterilize them in a microwave.</a:t>
            </a:r>
            <a:endParaRPr lang="en-US" sz="950" dirty="0"/>
          </a:p>
          <a:p>
            <a:pPr marL="171450" indent="-171450">
              <a:lnSpc>
                <a:spcPct val="140000"/>
              </a:lnSpc>
              <a:buChar char="•"/>
            </a:pPr>
            <a:r>
              <a:rPr lang="en-US" altLang="zh-CN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</a:t>
            </a: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lease use the product as demonstrated in the instruction video (link </a:t>
            </a:r>
            <a:r>
              <a:rPr lang="en-US" altLang="zh-CN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zh-CN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hlinkClick r:id="rId1"/>
              </a:rPr>
              <a:t>https://www.youtube.com/watch?v=YLZGj2YY2e4</a:t>
            </a: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.</a:t>
            </a:r>
            <a:r>
              <a:rPr lang="en-US" altLang="zh-CN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) </a:t>
            </a:r>
            <a:endParaRPr lang="en-US" sz="95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171450" indent="-171450">
              <a:lnSpc>
                <a:spcPct val="140000"/>
              </a:lnSpc>
              <a:buChar char="•"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your safety, do not use the breast pump while driving.</a:t>
            </a:r>
            <a:endParaRPr lang="en-US" sz="95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17720" y="1261872"/>
            <a:ext cx="4023360" cy="2231136"/>
          </a:xfrm>
          <a:prstGeom prst="roundRect">
            <a:avLst>
              <a:gd name="adj" fmla="val 2459"/>
            </a:avLst>
          </a:prstGeom>
          <a:solidFill>
            <a:srgbClr val="EAF0ED"/>
          </a:solidFill>
        </p:spPr>
      </p:sp>
      <p:sp>
        <p:nvSpPr>
          <p:cNvPr id="13" name="Shape 11"/>
          <p:cNvSpPr/>
          <p:nvPr/>
        </p:nvSpPr>
        <p:spPr>
          <a:xfrm>
            <a:off x="4617720" y="1261872"/>
            <a:ext cx="45720" cy="2231136"/>
          </a:xfrm>
          <a:prstGeom prst="rect">
            <a:avLst/>
          </a:prstGeom>
          <a:solidFill>
            <a:srgbClr val="6B857B"/>
          </a:solidFill>
        </p:spPr>
      </p:sp>
      <p:sp>
        <p:nvSpPr>
          <p:cNvPr id="14" name="Text 12"/>
          <p:cNvSpPr/>
          <p:nvPr/>
        </p:nvSpPr>
        <p:spPr>
          <a:xfrm>
            <a:off x="4809744" y="1353312"/>
            <a:ext cx="36576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857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Do’s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9744" y="1627632"/>
            <a:ext cx="3703320" cy="17922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lnSpc>
                <a:spcPct val="140000"/>
              </a:lnSpc>
              <a:buChar char="•"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the full product name </a:t>
            </a:r>
            <a:r>
              <a:rPr lang="en-US" altLang="zh-CN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</a:t>
            </a: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Momcozy Wellness 1</a:t>
            </a:r>
            <a:r>
              <a:rPr lang="en-US" altLang="zh-CN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 </a:t>
            </a: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each time you mention it.</a:t>
            </a:r>
            <a:endParaRPr lang="en-US" sz="950" dirty="0"/>
          </a:p>
          <a:p>
            <a:pPr marL="171450" indent="-171450">
              <a:lnSpc>
                <a:spcPct val="140000"/>
              </a:lnSpc>
              <a:buChar char="•"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Hold the product on camera so viewers can see what you are describing.</a:t>
            </a:r>
            <a:endParaRPr lang="en-US" sz="950" dirty="0"/>
          </a:p>
          <a:p>
            <a:pPr marL="171450" indent="-171450">
              <a:lnSpc>
                <a:spcPct val="140000"/>
              </a:lnSpc>
              <a:buChar char="•"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Rewrite the suggested lines in your own voice — accuracy matters, wording does not.</a:t>
            </a:r>
            <a:endParaRPr lang="en-US" sz="95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171450" indent="-171450">
              <a:lnSpc>
                <a:spcPct val="140000"/>
              </a:lnSpc>
              <a:buChar char="•"/>
            </a:pPr>
            <a:r>
              <a:rPr lang="en-US" sz="9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FTC Disclosure: clearly disclose sponsored content using #ad or Paid Partnership in a visible position within the content.</a:t>
            </a:r>
            <a:endParaRPr lang="en-US" sz="95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2918" y="3575728"/>
            <a:ext cx="8138160" cy="1201993"/>
          </a:xfrm>
          <a:prstGeom prst="roundRect">
            <a:avLst>
              <a:gd name="adj" fmla="val 6579"/>
            </a:avLst>
          </a:prstGeom>
          <a:solidFill>
            <a:srgbClr val="FFF0EF"/>
          </a:solidFill>
        </p:spPr>
      </p:sp>
      <p:sp>
        <p:nvSpPr>
          <p:cNvPr id="17" name="Text 15"/>
          <p:cNvSpPr/>
          <p:nvPr/>
        </p:nvSpPr>
        <p:spPr>
          <a:xfrm>
            <a:off x="642835" y="3619304"/>
            <a:ext cx="2743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Must do in every post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2835" y="3838760"/>
            <a:ext cx="777240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lnSpc>
                <a:spcPct val="120000"/>
              </a:lnSpc>
              <a:buChar char="•"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Tag @momcozy_breastfeeding @momcozyofficial</a:t>
            </a:r>
            <a:endParaRPr lang="en-US" sz="850" dirty="0"/>
          </a:p>
          <a:p>
            <a:pPr marL="171450" indent="-171450">
              <a:lnSpc>
                <a:spcPct val="120000"/>
              </a:lnSpc>
              <a:buChar char="•"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hashtags: #wearablepumps #momcozybreastpump #pumpingmom #pumpingtips #ad / paid partnership</a:t>
            </a:r>
            <a:endParaRPr lang="en-US" sz="850" dirty="0">
              <a:solidFill>
                <a:srgbClr val="3B353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171450" indent="-171450">
              <a:lnSpc>
                <a:spcPct val="120000"/>
              </a:lnSpc>
              <a:buChar char="•"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Please include a natural, non-salesy CTA at the end of the video, such as “</a:t>
            </a:r>
            <a:r>
              <a:rPr lang="en-US" sz="850" b="1" i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Feel free to leave any questions in the comments</a:t>
            </a: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 or “</a:t>
            </a:r>
            <a:r>
              <a:rPr lang="en-US" sz="850" b="1" i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If you’re interested, check out the link in my bio to learn more</a:t>
            </a:r>
            <a:r>
              <a:rPr lang="en-US" sz="850" i="1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  Please also add the product link below to your bio for tracking purposes:  </a:t>
            </a:r>
            <a:r>
              <a:rPr lang="en-US" altLang="zh-CN" sz="850" dirty="0">
                <a:solidFill>
                  <a:srgbClr val="3B3538"/>
                </a:solidFill>
                <a:highlight>
                  <a:srgbClr val="FFFF00"/>
                </a:highlight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zh-CN" altLang="en-US" sz="850" dirty="0">
                <a:solidFill>
                  <a:srgbClr val="3B3538"/>
                </a:solidFill>
                <a:highlight>
                  <a:srgbClr val="FFFF00"/>
                </a:highlight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达人推广自行替换</a:t>
            </a:r>
            <a:r>
              <a:rPr lang="en-US" altLang="zh-CN" sz="850" dirty="0">
                <a:solidFill>
                  <a:srgbClr val="3B3538"/>
                </a:solidFill>
                <a:highlight>
                  <a:srgbClr val="FFFF00"/>
                </a:highlight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US" altLang="zh-CN" sz="850" dirty="0">
              <a:solidFill>
                <a:srgbClr val="3B3538"/>
              </a:solidFill>
              <a:highlight>
                <a:srgbClr val="FFFF00"/>
              </a:highlight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</a:t>
            </a:r>
            <a:endParaRPr lang="en-US" sz="900" dirty="0"/>
          </a:p>
        </p:txBody>
      </p:sp>
      <p:pic>
        <p:nvPicPr>
          <p:cNvPr id="20" name="图片 19" descr="upload_post_object_v2_8273725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744" y="1178943"/>
            <a:ext cx="1435067" cy="7976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Red lines — not negotiable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video that crosses any of these cannot be published, and will have to be reshot.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43584"/>
            <a:ext cx="8138160" cy="548640"/>
          </a:xfrm>
          <a:prstGeom prst="roundRect">
            <a:avLst>
              <a:gd name="adj" fmla="val 8333"/>
            </a:avLst>
          </a:prstGeom>
          <a:solidFill>
            <a:srgbClr val="FBF0E6"/>
          </a:solidFill>
        </p:spPr>
      </p:sp>
      <p:sp>
        <p:nvSpPr>
          <p:cNvPr id="7" name="Shape 5"/>
          <p:cNvSpPr/>
          <p:nvPr/>
        </p:nvSpPr>
        <p:spPr>
          <a:xfrm>
            <a:off x="502920" y="1243584"/>
            <a:ext cx="45720" cy="548640"/>
          </a:xfrm>
          <a:prstGeom prst="rect">
            <a:avLst/>
          </a:prstGeom>
          <a:solidFill>
            <a:srgbClr val="B0662F"/>
          </a:solidFill>
        </p:spPr>
      </p:sp>
      <p:sp>
        <p:nvSpPr>
          <p:cNvPr id="8" name="Text 6"/>
          <p:cNvSpPr/>
          <p:nvPr/>
        </p:nvSpPr>
        <p:spPr>
          <a:xfrm>
            <a:off x="630936" y="1298448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289304"/>
            <a:ext cx="74980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 not claim or imply that Momcozy Wellness 1 can unclog, clear, or break up clogged milk ducts, relieve breast engorgement, treat, relieve, or prevent mastitis, increase milk supply, provide more complete emptying, guarantee faster let-down, or provide deep massage.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8138160" cy="548640"/>
          </a:xfrm>
          <a:prstGeom prst="roundRect">
            <a:avLst>
              <a:gd name="adj" fmla="val 8333"/>
            </a:avLst>
          </a:prstGeom>
          <a:solidFill>
            <a:srgbClr val="FBF0E6"/>
          </a:solidFill>
        </p:spPr>
      </p:sp>
      <p:sp>
        <p:nvSpPr>
          <p:cNvPr id="11" name="Shape 9"/>
          <p:cNvSpPr/>
          <p:nvPr/>
        </p:nvSpPr>
        <p:spPr>
          <a:xfrm>
            <a:off x="502920" y="1874520"/>
            <a:ext cx="45720" cy="548640"/>
          </a:xfrm>
          <a:prstGeom prst="rect">
            <a:avLst/>
          </a:prstGeom>
          <a:solidFill>
            <a:srgbClr val="B0662F"/>
          </a:solidFill>
        </p:spPr>
      </p:sp>
      <p:sp>
        <p:nvSpPr>
          <p:cNvPr id="12" name="Text 10"/>
          <p:cNvSpPr/>
          <p:nvPr/>
        </p:nvSpPr>
        <p:spPr>
          <a:xfrm>
            <a:off x="630936" y="1929384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920240"/>
            <a:ext cx="74980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 not provide personalized medical advice. For persistent pain or discomfort, encourage viewers to consult a healthcare professional.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2505456"/>
            <a:ext cx="8138160" cy="548640"/>
          </a:xfrm>
          <a:prstGeom prst="roundRect">
            <a:avLst>
              <a:gd name="adj" fmla="val 8333"/>
            </a:avLst>
          </a:prstGeom>
          <a:solidFill>
            <a:srgbClr val="FBF0E6"/>
          </a:solidFill>
        </p:spPr>
      </p:sp>
      <p:sp>
        <p:nvSpPr>
          <p:cNvPr id="15" name="Shape 13"/>
          <p:cNvSpPr/>
          <p:nvPr/>
        </p:nvSpPr>
        <p:spPr>
          <a:xfrm>
            <a:off x="502920" y="2505456"/>
            <a:ext cx="45720" cy="548640"/>
          </a:xfrm>
          <a:prstGeom prst="rect">
            <a:avLst/>
          </a:prstGeom>
          <a:solidFill>
            <a:srgbClr val="B0662F"/>
          </a:solidFill>
        </p:spPr>
      </p:sp>
      <p:sp>
        <p:nvSpPr>
          <p:cNvPr id="16" name="Text 14"/>
          <p:cNvSpPr/>
          <p:nvPr/>
        </p:nvSpPr>
        <p:spPr>
          <a:xfrm>
            <a:off x="630936" y="2560320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551176"/>
            <a:ext cx="74980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 not mention or compare competitor brands or products. You may only refer to “my old pump” </a:t>
            </a:r>
            <a:r>
              <a:rPr lang="en-US" altLang="zh-CN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 "pump I used before". 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3136392"/>
            <a:ext cx="8138160" cy="548640"/>
          </a:xfrm>
          <a:prstGeom prst="roundRect">
            <a:avLst>
              <a:gd name="adj" fmla="val 8333"/>
            </a:avLst>
          </a:prstGeom>
          <a:solidFill>
            <a:srgbClr val="FBF0E6"/>
          </a:solidFill>
        </p:spPr>
      </p:sp>
      <p:sp>
        <p:nvSpPr>
          <p:cNvPr id="19" name="Shape 17"/>
          <p:cNvSpPr/>
          <p:nvPr/>
        </p:nvSpPr>
        <p:spPr>
          <a:xfrm>
            <a:off x="502920" y="3136392"/>
            <a:ext cx="45720" cy="548640"/>
          </a:xfrm>
          <a:prstGeom prst="rect">
            <a:avLst/>
          </a:prstGeom>
          <a:solidFill>
            <a:srgbClr val="B0662F"/>
          </a:solidFill>
        </p:spPr>
      </p:sp>
      <p:sp>
        <p:nvSpPr>
          <p:cNvPr id="20" name="Text 18"/>
          <p:cNvSpPr/>
          <p:nvPr/>
        </p:nvSpPr>
        <p:spPr>
          <a:xfrm>
            <a:off x="630936" y="3191256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3182112"/>
            <a:ext cx="74980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 not include alcohol, guns, violence, blood, or drugs.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3767328"/>
            <a:ext cx="8138160" cy="548640"/>
          </a:xfrm>
          <a:prstGeom prst="roundRect">
            <a:avLst>
              <a:gd name="adj" fmla="val 8333"/>
            </a:avLst>
          </a:prstGeom>
          <a:solidFill>
            <a:srgbClr val="FBF0E6"/>
          </a:solidFill>
        </p:spPr>
      </p:sp>
      <p:sp>
        <p:nvSpPr>
          <p:cNvPr id="23" name="Shape 21"/>
          <p:cNvSpPr/>
          <p:nvPr/>
        </p:nvSpPr>
        <p:spPr>
          <a:xfrm>
            <a:off x="502920" y="3767328"/>
            <a:ext cx="45720" cy="548640"/>
          </a:xfrm>
          <a:prstGeom prst="rect">
            <a:avLst/>
          </a:prstGeom>
          <a:solidFill>
            <a:srgbClr val="B0662F"/>
          </a:solidFill>
        </p:spPr>
      </p:sp>
      <p:sp>
        <p:nvSpPr>
          <p:cNvPr id="24" name="Text 22"/>
          <p:cNvSpPr/>
          <p:nvPr/>
        </p:nvSpPr>
        <p:spPr>
          <a:xfrm>
            <a:off x="630936" y="3822192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66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813048"/>
            <a:ext cx="74980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85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Do not show you are driving while pumping in front of camera</a:t>
            </a:r>
            <a:endParaRPr lang="en-US" sz="85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Text 1"/>
          <p:cNvSpPr/>
          <p:nvPr/>
        </p:nvSpPr>
        <p:spPr>
          <a:xfrm>
            <a:off x="502920" y="237744"/>
            <a:ext cx="8138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TIMELINE &amp; RIGHTS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138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Delivery, timing and usage rights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50392"/>
            <a:ext cx="8138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4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Tell us early if anything is going to slip.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502920" y="1261872"/>
          <a:ext cx="8138160" cy="1920240"/>
        </p:xfrm>
        <a:graphic>
          <a:graphicData uri="http://schemas.openxmlformats.org/drawingml/2006/table">
            <a:tbl>
              <a:tblPr/>
              <a:tblGrid>
                <a:gridCol w="1325880"/>
                <a:gridCol w="3246120"/>
                <a:gridCol w="2148840"/>
                <a:gridCol w="141732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Stage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Deliverable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Due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Owner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B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Product received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Shipment confirmation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—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Momcozy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Draft submission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First cut of the video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Within 14 days of receiving the product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Creator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Feedback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Revision notes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B0662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［ ］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Momcozy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Final delivery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Final edit + raw footage (no subtitles / end cards)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B0662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［ ］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Creator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Publish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Live post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As agreed via email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Creator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6A2B3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Reporting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Backend screenshots / performance data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B0662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［ ］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B353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Creator</a:t>
                      </a:r>
                      <a:endParaRPr lang="en-US" sz="8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310128"/>
            <a:ext cx="8138160" cy="1097280"/>
          </a:xfrm>
          <a:prstGeom prst="roundRect">
            <a:avLst>
              <a:gd name="adj" fmla="val 4167"/>
            </a:avLst>
          </a:prstGeom>
          <a:solidFill>
            <a:srgbClr val="FFF0EF"/>
          </a:solidFill>
        </p:spPr>
      </p:sp>
      <p:sp>
        <p:nvSpPr>
          <p:cNvPr id="8" name="Text 5"/>
          <p:cNvSpPr/>
          <p:nvPr/>
        </p:nvSpPr>
        <p:spPr>
          <a:xfrm>
            <a:off x="685800" y="3383280"/>
            <a:ext cx="45720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2B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Usage rights &amp; confidentiality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3602736"/>
            <a:ext cx="7772400" cy="7498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 Momcozy retains full usage and secondary editing rights for 3 months across owned and paid channels, including TikTok Spark Ads, Instagram Ads, website, social media, paid advertising, and email marketing.</a:t>
            </a:r>
            <a:endParaRPr lang="en-US" sz="8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 Please provide the final edited video, raw footage (without subtitles or end cards), and allow Momcozy to use your photo and bio when reposting the content.</a:t>
            </a:r>
            <a:endParaRPr lang="en-US" sz="8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800" dirty="0">
                <a:solidFill>
                  <a:srgbClr val="3B35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 All information shared by Momcozy is confidential and may not be disclosed to any third party without prior written consent from Momcozy.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183880" y="4777740"/>
            <a:ext cx="457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27A7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2B3A"/>
          </a:solidFill>
        </p:spPr>
      </p:sp>
      <p:sp>
        <p:nvSpPr>
          <p:cNvPr id="3" name="Shape 1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8A3A4C"/>
          </a:solidFill>
        </p:spPr>
      </p:sp>
      <p:sp>
        <p:nvSpPr>
          <p:cNvPr id="4" name="Shape 2"/>
          <p:cNvSpPr/>
          <p:nvPr/>
        </p:nvSpPr>
        <p:spPr>
          <a:xfrm>
            <a:off x="6766560" y="-1371600"/>
            <a:ext cx="3840480" cy="3840480"/>
          </a:xfrm>
          <a:prstGeom prst="ellipse">
            <a:avLst/>
          </a:prstGeom>
          <a:solidFill>
            <a:srgbClr val="B27A7E"/>
          </a:solidFill>
        </p:spPr>
      </p:sp>
      <p:sp>
        <p:nvSpPr>
          <p:cNvPr id="5" name="Shape 3"/>
          <p:cNvSpPr/>
          <p:nvPr/>
        </p:nvSpPr>
        <p:spPr>
          <a:xfrm>
            <a:off x="7772400" y="3406140"/>
            <a:ext cx="2560320" cy="2560320"/>
          </a:xfrm>
          <a:prstGeom prst="ellipse">
            <a:avLst/>
          </a:prstGeom>
          <a:solidFill>
            <a:srgbClr val="D9A8A3"/>
          </a:solidFill>
        </p:spPr>
      </p:sp>
      <p:sp>
        <p:nvSpPr>
          <p:cNvPr id="6" name="Text 4"/>
          <p:cNvSpPr/>
          <p:nvPr/>
        </p:nvSpPr>
        <p:spPr>
          <a:xfrm>
            <a:off x="502920" y="1737360"/>
            <a:ext cx="5486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505456"/>
            <a:ext cx="5486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We’re glad you’re part of this </a:t>
            </a:r>
            <a:r>
              <a:rPr lang="en-US" altLang="zh-CN" sz="150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campaign</a:t>
            </a:r>
            <a:r>
              <a:rPr lang="en-US" sz="1500" dirty="0">
                <a:solidFill>
                  <a:srgbClr val="F1DA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962656"/>
            <a:ext cx="1005840" cy="32004"/>
          </a:xfrm>
          <a:prstGeom prst="rect">
            <a:avLst/>
          </a:prstGeom>
          <a:solidFill>
            <a:srgbClr val="F1DACE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12411</Words>
  <Application>WPS Office WWO_feishu_20241028185521-3ecd29d096</Application>
  <PresentationFormat>On-screen Show (16:9)</PresentationFormat>
  <Paragraphs>633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Arial</vt:lpstr>
      <vt:lpstr>Arial</vt:lpstr>
      <vt:lpstr>等线</vt:lpstr>
      <vt:lpstr>汉仪中等线KW</vt:lpstr>
      <vt:lpstr>等线</vt:lpstr>
      <vt:lpstr>等线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Momcozy Wellness 1 — Creator Brief (Working Moms)</dc:title>
  <dc:creator>PptxGenJS</dc:creator>
  <dc:subject>PptxGenJS Presentation</dc:subject>
  <cp:lastModifiedBy>PptxGenJS</cp:lastModifiedBy>
  <dcterms:created xsi:type="dcterms:W3CDTF">2026-08-11T02:14:58Z</dcterms:created>
  <dcterms:modified xsi:type="dcterms:W3CDTF">2026-08-11T02:14:58Z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5D6E63851CC5463F240A746A8546EA02_42</vt:lpwstr>
  </property>
  <property fmtid="{D5CDD505-2E9C-101B-9397-08002B2CF9AE}" pid="3" name="KSOProductBuildVer">
    <vt:lpwstr>2052-0.0.0.0</vt:lpwstr>
  </property>
</Properties>
</file>